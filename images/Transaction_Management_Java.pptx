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2011680"/>
            <a:ext cx="5486400" cy="5486400"/>
          </a:xfrm>
          <a:prstGeom prst="ellipse">
            <a:avLst/>
          </a:prstGeom>
          <a:solidFill>
            <a:srgbClr val="0096C7">
              <a:alpha val="12000"/>
            </a:srgbClr>
          </a:solidFill>
          <a:ln w="12700">
            <a:solidFill>
              <a:srgbClr val="0096C7"/>
            </a:solidFill>
            <a:prstDash val="solid"/>
          </a:ln>
        </p:spPr>
      </p:sp>
      <p:sp>
        <p:nvSpPr>
          <p:cNvPr id="3" name="Shape 1"/>
          <p:cNvSpPr/>
          <p:nvPr/>
        </p:nvSpPr>
        <p:spPr>
          <a:xfrm>
            <a:off x="8229600" y="-731520"/>
            <a:ext cx="2743200" cy="2743200"/>
          </a:xfrm>
          <a:prstGeom prst="ellipse">
            <a:avLst/>
          </a:prstGeom>
          <a:solidFill>
            <a:srgbClr val="02A896">
              <a:alpha val="22000"/>
            </a:srgbClr>
          </a:solidFill>
          <a:ln w="12700">
            <a:solidFill>
              <a:srgbClr val="02A896"/>
            </a:solidFill>
            <a:prstDash val="solid"/>
          </a:ln>
        </p:spPr>
      </p:sp>
      <p:sp>
        <p:nvSpPr>
          <p:cNvPr id="4" name="Text 2"/>
          <p:cNvSpPr/>
          <p:nvPr/>
        </p:nvSpPr>
        <p:spPr>
          <a:xfrm>
            <a:off x="548640" y="868680"/>
            <a:ext cx="8229600" cy="960120"/>
          </a:xfrm>
          <a:prstGeom prst="rect">
            <a:avLst/>
          </a:prstGeom>
          <a:noFill/>
          <a:ln/>
        </p:spPr>
        <p:txBody>
          <a:bodyPr wrap="square"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Transaction Management</a:t>
            </a:r>
            <a:endParaRPr lang="en-US" sz="4200" dirty="0"/>
          </a:p>
        </p:txBody>
      </p:sp>
      <p:sp>
        <p:nvSpPr>
          <p:cNvPr id="5" name="Text 3"/>
          <p:cNvSpPr/>
          <p:nvPr/>
        </p:nvSpPr>
        <p:spPr>
          <a:xfrm>
            <a:off x="548640" y="1737360"/>
            <a:ext cx="4572000" cy="822960"/>
          </a:xfrm>
          <a:prstGeom prst="rect">
            <a:avLst/>
          </a:prstGeom>
          <a:noFill/>
          <a:ln/>
        </p:spPr>
        <p:txBody>
          <a:bodyPr wrap="square" rtlCol="0" anchor="ctr"/>
          <a:lstStyle/>
          <a:p>
            <a:pPr algn="l" indent="0" marL="0">
              <a:buNone/>
            </a:pPr>
            <a:r>
              <a:rPr lang="en-US" sz="4200" b="1" dirty="0">
                <a:solidFill>
                  <a:srgbClr val="0096C7"/>
                </a:solidFill>
                <a:latin typeface="Calibri" pitchFamily="34" charset="0"/>
                <a:ea typeface="Calibri" pitchFamily="34" charset="-122"/>
                <a:cs typeface="Calibri" pitchFamily="34" charset="-120"/>
              </a:rPr>
              <a:t>in Java</a:t>
            </a:r>
            <a:endParaRPr lang="en-US" sz="4200" dirty="0"/>
          </a:p>
        </p:txBody>
      </p:sp>
      <p:sp>
        <p:nvSpPr>
          <p:cNvPr id="6" name="Text 4"/>
          <p:cNvSpPr/>
          <p:nvPr/>
        </p:nvSpPr>
        <p:spPr>
          <a:xfrm>
            <a:off x="548640" y="2743200"/>
            <a:ext cx="8229600" cy="411480"/>
          </a:xfrm>
          <a:prstGeom prst="rect">
            <a:avLst/>
          </a:prstGeom>
          <a:noFill/>
          <a:ln/>
        </p:spPr>
        <p:txBody>
          <a:bodyPr wrap="square" rtlCol="0" anchor="ctr"/>
          <a:lstStyle/>
          <a:p>
            <a:pPr algn="l" indent="0" marL="0">
              <a:buNone/>
            </a:pPr>
            <a:r>
              <a:rPr lang="en-US" sz="1400" i="1" dirty="0">
                <a:solidFill>
                  <a:srgbClr val="7FAFC5"/>
                </a:solidFill>
                <a:latin typeface="Calibri" pitchFamily="34" charset="0"/>
                <a:ea typeface="Calibri" pitchFamily="34" charset="-122"/>
                <a:cs typeface="Calibri" pitchFamily="34" charset="-120"/>
              </a:rPr>
              <a:t>ACID Properties  ·  JDBC Implementation  ·  Spring Framework</a:t>
            </a:r>
            <a:endParaRPr lang="en-US" sz="1400" dirty="0"/>
          </a:p>
        </p:txBody>
      </p:sp>
      <p:sp>
        <p:nvSpPr>
          <p:cNvPr id="7" name="Shape 5"/>
          <p:cNvSpPr/>
          <p:nvPr/>
        </p:nvSpPr>
        <p:spPr>
          <a:xfrm>
            <a:off x="548640" y="3273552"/>
            <a:ext cx="3474720" cy="36576"/>
          </a:xfrm>
          <a:prstGeom prst="rect">
            <a:avLst/>
          </a:prstGeom>
          <a:solidFill>
            <a:srgbClr val="0096C7"/>
          </a:solidFill>
          <a:ln w="12700">
            <a:solidFill>
              <a:srgbClr val="0096C7"/>
            </a:solidFill>
            <a:prstDash val="solid"/>
          </a:ln>
        </p:spPr>
      </p:sp>
      <p:sp>
        <p:nvSpPr>
          <p:cNvPr id="8" name="Text 6"/>
          <p:cNvSpPr/>
          <p:nvPr/>
        </p:nvSpPr>
        <p:spPr>
          <a:xfrm>
            <a:off x="548640" y="3429000"/>
            <a:ext cx="8229600" cy="365760"/>
          </a:xfrm>
          <a:prstGeom prst="rect">
            <a:avLst/>
          </a:prstGeom>
          <a:noFill/>
          <a:ln/>
        </p:spPr>
        <p:txBody>
          <a:bodyPr wrap="square" rtlCol="0" anchor="ctr"/>
          <a:lstStyle/>
          <a:p>
            <a:pPr algn="l" indent="0" marL="0">
              <a:buNone/>
            </a:pPr>
            <a:r>
              <a:rPr lang="en-US" sz="1100" dirty="0">
                <a:solidFill>
                  <a:srgbClr val="4A6E88"/>
                </a:solidFill>
                <a:latin typeface="Calibri" pitchFamily="34" charset="0"/>
                <a:ea typeface="Calibri" pitchFamily="34" charset="-122"/>
                <a:cs typeface="Calibri" pitchFamily="34" charset="-120"/>
              </a:rPr>
              <a:t>Database Systems  |  Group Presentation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411480" y="0"/>
            <a:ext cx="8321040" cy="658368"/>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What is Transaction Management?</a:t>
            </a:r>
            <a:endParaRPr lang="en-US" sz="2200" dirty="0"/>
          </a:p>
        </p:txBody>
      </p:sp>
      <p:sp>
        <p:nvSpPr>
          <p:cNvPr id="4" name="Shape 2"/>
          <p:cNvSpPr/>
          <p:nvPr/>
        </p:nvSpPr>
        <p:spPr>
          <a:xfrm>
            <a:off x="91440" y="201168"/>
            <a:ext cx="256032" cy="256032"/>
          </a:xfrm>
          <a:prstGeom prst="ellipse">
            <a:avLst/>
          </a:prstGeom>
          <a:solidFill>
            <a:srgbClr val="0096C7"/>
          </a:solidFill>
          <a:ln w="12700">
            <a:solidFill>
              <a:srgbClr val="0096C7"/>
            </a:solidFill>
            <a:prstDash val="solid"/>
          </a:ln>
        </p:spPr>
      </p:sp>
      <p:sp>
        <p:nvSpPr>
          <p:cNvPr id="5" name="Shape 3"/>
          <p:cNvSpPr/>
          <p:nvPr/>
        </p:nvSpPr>
        <p:spPr>
          <a:xfrm>
            <a:off x="365760" y="841248"/>
            <a:ext cx="4023360" cy="3977640"/>
          </a:xfrm>
          <a:prstGeom prst="roundRect">
            <a:avLst>
              <a:gd name="adj" fmla="val 2759"/>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6" name="Text 4"/>
          <p:cNvSpPr/>
          <p:nvPr/>
        </p:nvSpPr>
        <p:spPr>
          <a:xfrm>
            <a:off x="594360" y="960120"/>
            <a:ext cx="3566160" cy="347472"/>
          </a:xfrm>
          <a:prstGeom prst="rect">
            <a:avLst/>
          </a:prstGeom>
          <a:noFill/>
          <a:ln/>
        </p:spPr>
        <p:txBody>
          <a:bodyPr wrap="square" rtlCol="0" anchor="ctr"/>
          <a:lstStyle/>
          <a:p>
            <a:pPr indent="0" marL="0">
              <a:buNone/>
            </a:pPr>
            <a:r>
              <a:rPr lang="en-US" sz="1600" b="1" dirty="0">
                <a:solidFill>
                  <a:srgbClr val="0096C7"/>
                </a:solidFill>
                <a:latin typeface="Calibri" pitchFamily="34" charset="0"/>
                <a:ea typeface="Calibri" pitchFamily="34" charset="-122"/>
                <a:cs typeface="Calibri" pitchFamily="34" charset="-120"/>
              </a:rPr>
              <a:t>Definition</a:t>
            </a:r>
            <a:endParaRPr lang="en-US" sz="1600" dirty="0"/>
          </a:p>
        </p:txBody>
      </p:sp>
      <p:sp>
        <p:nvSpPr>
          <p:cNvPr id="7" name="Text 5"/>
          <p:cNvSpPr/>
          <p:nvPr/>
        </p:nvSpPr>
        <p:spPr>
          <a:xfrm>
            <a:off x="594360" y="1389888"/>
            <a:ext cx="3566160" cy="1188720"/>
          </a:xfrm>
          <a:prstGeom prst="rect">
            <a:avLst/>
          </a:prstGeom>
          <a:noFill/>
          <a:ln/>
        </p:spPr>
        <p:txBody>
          <a:bodyPr wrap="square" rtlCol="0" anchor="ctr"/>
          <a:lstStyle/>
          <a:p>
            <a:pPr algn="l" indent="0" marL="0">
              <a:buNone/>
            </a:pPr>
            <a:r>
              <a:rPr lang="en-US" sz="1250" dirty="0">
                <a:solidFill>
                  <a:srgbClr val="1A2B4A"/>
                </a:solidFill>
                <a:latin typeface="Calibri" pitchFamily="34" charset="0"/>
                <a:ea typeface="Calibri" pitchFamily="34" charset="-122"/>
                <a:cs typeface="Calibri" pitchFamily="34" charset="-120"/>
              </a:rPr>
              <a:t>Transaction management is the process of coordinating a group of database operations so they execute as a single, atomic unit — ensuring data integrity, reliability, and consistency.</a:t>
            </a:r>
            <a:endParaRPr lang="en-US" sz="1250" dirty="0"/>
          </a:p>
        </p:txBody>
      </p:sp>
      <p:sp>
        <p:nvSpPr>
          <p:cNvPr id="8" name="Shape 6"/>
          <p:cNvSpPr/>
          <p:nvPr/>
        </p:nvSpPr>
        <p:spPr>
          <a:xfrm>
            <a:off x="502920" y="2651760"/>
            <a:ext cx="3749040" cy="1783080"/>
          </a:xfrm>
          <a:prstGeom prst="roundRect">
            <a:avLst>
              <a:gd name="adj" fmla="val 4103"/>
            </a:avLst>
          </a:prstGeom>
          <a:solidFill>
            <a:srgbClr val="EAF5FC"/>
          </a:solidFill>
          <a:ln w="12700">
            <a:solidFill>
              <a:srgbClr val="D0E4F0"/>
            </a:solidFill>
            <a:prstDash val="solid"/>
          </a:ln>
        </p:spPr>
      </p:sp>
      <p:sp>
        <p:nvSpPr>
          <p:cNvPr id="9" name="Text 7"/>
          <p:cNvSpPr/>
          <p:nvPr/>
        </p:nvSpPr>
        <p:spPr>
          <a:xfrm>
            <a:off x="658368" y="2743200"/>
            <a:ext cx="3383280" cy="320040"/>
          </a:xfrm>
          <a:prstGeom prst="rect">
            <a:avLst/>
          </a:prstGeom>
          <a:noFill/>
          <a:ln/>
        </p:spPr>
        <p:txBody>
          <a:bodyPr wrap="square" rtlCol="0" anchor="ctr"/>
          <a:lstStyle/>
          <a:p>
            <a:pPr indent="0" marL="0">
              <a:buNone/>
            </a:pPr>
            <a:r>
              <a:rPr lang="en-US" sz="1200" b="1" dirty="0">
                <a:solidFill>
                  <a:srgbClr val="0096C7"/>
                </a:solidFill>
                <a:latin typeface="Calibri" pitchFamily="34" charset="0"/>
                <a:ea typeface="Calibri" pitchFamily="34" charset="-122"/>
                <a:cs typeface="Calibri" pitchFamily="34" charset="-120"/>
              </a:rPr>
              <a:t>Key Concept</a:t>
            </a:r>
            <a:endParaRPr lang="en-US" sz="1200" dirty="0"/>
          </a:p>
        </p:txBody>
      </p:sp>
      <p:sp>
        <p:nvSpPr>
          <p:cNvPr id="10" name="Text 8"/>
          <p:cNvSpPr/>
          <p:nvPr/>
        </p:nvSpPr>
        <p:spPr>
          <a:xfrm>
            <a:off x="658368" y="3090672"/>
            <a:ext cx="3383280" cy="1188720"/>
          </a:xfrm>
          <a:prstGeom prst="rect">
            <a:avLst/>
          </a:prstGeom>
          <a:noFill/>
          <a:ln/>
        </p:spPr>
        <p:txBody>
          <a:bodyPr wrap="square" rtlCol="0" anchor="ctr"/>
          <a:lstStyle/>
          <a:p>
            <a:pPr algn="l" indent="0" marL="0">
              <a:buNone/>
            </a:pPr>
            <a:r>
              <a:rPr lang="en-US" sz="1150" dirty="0">
                <a:solidFill>
                  <a:srgbClr val="1A2B4A"/>
                </a:solidFill>
                <a:latin typeface="Calibri" pitchFamily="34" charset="0"/>
                <a:ea typeface="Calibri" pitchFamily="34" charset="-122"/>
                <a:cs typeface="Calibri" pitchFamily="34" charset="-120"/>
              </a:rPr>
              <a:t>If any operation in the transaction fails, ALL operations are reversed (rolled back) to their original state. There is NO partial completion.</a:t>
            </a:r>
            <a:endParaRPr lang="en-US" sz="1150" dirty="0"/>
          </a:p>
        </p:txBody>
      </p:sp>
      <p:sp>
        <p:nvSpPr>
          <p:cNvPr id="11" name="Shape 9"/>
          <p:cNvSpPr/>
          <p:nvPr/>
        </p:nvSpPr>
        <p:spPr>
          <a:xfrm>
            <a:off x="4709160" y="841248"/>
            <a:ext cx="4023360" cy="3977640"/>
          </a:xfrm>
          <a:prstGeom prst="roundRect">
            <a:avLst>
              <a:gd name="adj" fmla="val 2759"/>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12" name="Text 10"/>
          <p:cNvSpPr/>
          <p:nvPr/>
        </p:nvSpPr>
        <p:spPr>
          <a:xfrm>
            <a:off x="4919472" y="960120"/>
            <a:ext cx="3566160" cy="347472"/>
          </a:xfrm>
          <a:prstGeom prst="rect">
            <a:avLst/>
          </a:prstGeom>
          <a:noFill/>
          <a:ln/>
        </p:spPr>
        <p:txBody>
          <a:bodyPr wrap="square" rtlCol="0" anchor="ctr"/>
          <a:lstStyle/>
          <a:p>
            <a:pPr indent="0" marL="0">
              <a:buNone/>
            </a:pPr>
            <a:r>
              <a:rPr lang="en-US" sz="1600" b="1" dirty="0">
                <a:solidFill>
                  <a:srgbClr val="02A896"/>
                </a:solidFill>
                <a:latin typeface="Calibri" pitchFamily="34" charset="0"/>
                <a:ea typeface="Calibri" pitchFamily="34" charset="-122"/>
                <a:cs typeface="Calibri" pitchFamily="34" charset="-120"/>
              </a:rPr>
              <a:t>Real-World Examples</a:t>
            </a:r>
            <a:endParaRPr lang="en-US" sz="1600" dirty="0"/>
          </a:p>
        </p:txBody>
      </p:sp>
      <p:sp>
        <p:nvSpPr>
          <p:cNvPr id="13" name="Shape 11"/>
          <p:cNvSpPr/>
          <p:nvPr/>
        </p:nvSpPr>
        <p:spPr>
          <a:xfrm>
            <a:off x="4892040" y="1444752"/>
            <a:ext cx="347472" cy="347472"/>
          </a:xfrm>
          <a:prstGeom prst="ellipse">
            <a:avLst/>
          </a:prstGeom>
          <a:solidFill>
            <a:srgbClr val="0096C7"/>
          </a:solidFill>
          <a:ln w="12700">
            <a:solidFill>
              <a:srgbClr val="0096C7"/>
            </a:solidFill>
            <a:prstDash val="solid"/>
          </a:ln>
        </p:spPr>
      </p:sp>
      <p:sp>
        <p:nvSpPr>
          <p:cNvPr id="14" name="Text 12"/>
          <p:cNvSpPr/>
          <p:nvPr/>
        </p:nvSpPr>
        <p:spPr>
          <a:xfrm>
            <a:off x="4892040" y="1444752"/>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5321808" y="1417320"/>
            <a:ext cx="3200400" cy="310896"/>
          </a:xfrm>
          <a:prstGeom prst="rect">
            <a:avLst/>
          </a:prstGeom>
          <a:noFill/>
          <a:ln/>
        </p:spPr>
        <p:txBody>
          <a:bodyPr wrap="square" rtlCol="0" anchor="ctr"/>
          <a:lstStyle/>
          <a:p>
            <a:pPr indent="0" marL="0">
              <a:buNone/>
            </a:pPr>
            <a:r>
              <a:rPr lang="en-US" sz="1250" b="1" dirty="0">
                <a:solidFill>
                  <a:srgbClr val="1A2B4A"/>
                </a:solidFill>
                <a:latin typeface="Calibri" pitchFamily="34" charset="0"/>
                <a:ea typeface="Calibri" pitchFamily="34" charset="-122"/>
                <a:cs typeface="Calibri" pitchFamily="34" charset="-120"/>
              </a:rPr>
              <a:t>Bank Transfer</a:t>
            </a:r>
            <a:endParaRPr lang="en-US" sz="1250" dirty="0"/>
          </a:p>
        </p:txBody>
      </p:sp>
      <p:sp>
        <p:nvSpPr>
          <p:cNvPr id="16" name="Text 14"/>
          <p:cNvSpPr/>
          <p:nvPr/>
        </p:nvSpPr>
        <p:spPr>
          <a:xfrm>
            <a:off x="5321808" y="1719072"/>
            <a:ext cx="3200400" cy="640080"/>
          </a:xfrm>
          <a:prstGeom prst="rect">
            <a:avLst/>
          </a:prstGeom>
          <a:noFill/>
          <a:ln/>
        </p:spPr>
        <p:txBody>
          <a:bodyPr wrap="square" rtlCol="0" anchor="ctr"/>
          <a:lstStyle/>
          <a:p>
            <a:pPr indent="0" marL="0">
              <a:buNone/>
            </a:pPr>
            <a:r>
              <a:rPr lang="en-US" sz="1100" dirty="0">
                <a:solidFill>
                  <a:srgbClr val="4E6A80"/>
                </a:solidFill>
                <a:latin typeface="Calibri" pitchFamily="34" charset="0"/>
                <a:ea typeface="Calibri" pitchFamily="34" charset="-122"/>
                <a:cs typeface="Calibri" pitchFamily="34" charset="-120"/>
              </a:rPr>
              <a:t>Deduct from Account A AND add to Account B. If either fails, both reverse.</a:t>
            </a:r>
            <a:endParaRPr lang="en-US" sz="1100" dirty="0"/>
          </a:p>
        </p:txBody>
      </p:sp>
      <p:sp>
        <p:nvSpPr>
          <p:cNvPr id="17" name="Shape 15"/>
          <p:cNvSpPr/>
          <p:nvPr/>
        </p:nvSpPr>
        <p:spPr>
          <a:xfrm>
            <a:off x="4892040" y="2560320"/>
            <a:ext cx="347472" cy="347472"/>
          </a:xfrm>
          <a:prstGeom prst="ellipse">
            <a:avLst/>
          </a:prstGeom>
          <a:solidFill>
            <a:srgbClr val="02A896"/>
          </a:solidFill>
          <a:ln w="12700">
            <a:solidFill>
              <a:srgbClr val="02A896"/>
            </a:solidFill>
            <a:prstDash val="solid"/>
          </a:ln>
        </p:spPr>
      </p:sp>
      <p:sp>
        <p:nvSpPr>
          <p:cNvPr id="18" name="Text 16"/>
          <p:cNvSpPr/>
          <p:nvPr/>
        </p:nvSpPr>
        <p:spPr>
          <a:xfrm>
            <a:off x="4892040" y="2560320"/>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5321808" y="2532888"/>
            <a:ext cx="3200400" cy="310896"/>
          </a:xfrm>
          <a:prstGeom prst="rect">
            <a:avLst/>
          </a:prstGeom>
          <a:noFill/>
          <a:ln/>
        </p:spPr>
        <p:txBody>
          <a:bodyPr wrap="square" rtlCol="0" anchor="ctr"/>
          <a:lstStyle/>
          <a:p>
            <a:pPr indent="0" marL="0">
              <a:buNone/>
            </a:pPr>
            <a:r>
              <a:rPr lang="en-US" sz="1250" b="1" dirty="0">
                <a:solidFill>
                  <a:srgbClr val="1A2B4A"/>
                </a:solidFill>
                <a:latin typeface="Calibri" pitchFamily="34" charset="0"/>
                <a:ea typeface="Calibri" pitchFamily="34" charset="-122"/>
                <a:cs typeface="Calibri" pitchFamily="34" charset="-120"/>
              </a:rPr>
              <a:t>Online Order</a:t>
            </a:r>
            <a:endParaRPr lang="en-US" sz="1250" dirty="0"/>
          </a:p>
        </p:txBody>
      </p:sp>
      <p:sp>
        <p:nvSpPr>
          <p:cNvPr id="20" name="Text 18"/>
          <p:cNvSpPr/>
          <p:nvPr/>
        </p:nvSpPr>
        <p:spPr>
          <a:xfrm>
            <a:off x="5321808" y="2834640"/>
            <a:ext cx="3200400" cy="640080"/>
          </a:xfrm>
          <a:prstGeom prst="rect">
            <a:avLst/>
          </a:prstGeom>
          <a:noFill/>
          <a:ln/>
        </p:spPr>
        <p:txBody>
          <a:bodyPr wrap="square" rtlCol="0" anchor="ctr"/>
          <a:lstStyle/>
          <a:p>
            <a:pPr indent="0" marL="0">
              <a:buNone/>
            </a:pPr>
            <a:r>
              <a:rPr lang="en-US" sz="1100" dirty="0">
                <a:solidFill>
                  <a:srgbClr val="4E6A80"/>
                </a:solidFill>
                <a:latin typeface="Calibri" pitchFamily="34" charset="0"/>
                <a:ea typeface="Calibri" pitchFamily="34" charset="-122"/>
                <a:cs typeface="Calibri" pitchFamily="34" charset="-120"/>
              </a:rPr>
              <a:t>Reserve inventory AND charge card AND create shipment — all succeed or all fail.</a:t>
            </a:r>
            <a:endParaRPr lang="en-US" sz="1100" dirty="0"/>
          </a:p>
        </p:txBody>
      </p:sp>
      <p:sp>
        <p:nvSpPr>
          <p:cNvPr id="21" name="Shape 19"/>
          <p:cNvSpPr/>
          <p:nvPr/>
        </p:nvSpPr>
        <p:spPr>
          <a:xfrm>
            <a:off x="4892040" y="3675888"/>
            <a:ext cx="347472" cy="347472"/>
          </a:xfrm>
          <a:prstGeom prst="ellipse">
            <a:avLst/>
          </a:prstGeom>
          <a:solidFill>
            <a:srgbClr val="F5A623"/>
          </a:solidFill>
          <a:ln w="12700">
            <a:solidFill>
              <a:srgbClr val="F5A623"/>
            </a:solidFill>
            <a:prstDash val="solid"/>
          </a:ln>
        </p:spPr>
      </p:sp>
      <p:sp>
        <p:nvSpPr>
          <p:cNvPr id="22" name="Text 20"/>
          <p:cNvSpPr/>
          <p:nvPr/>
        </p:nvSpPr>
        <p:spPr>
          <a:xfrm>
            <a:off x="4892040" y="3675888"/>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5321808" y="3648456"/>
            <a:ext cx="3200400" cy="310896"/>
          </a:xfrm>
          <a:prstGeom prst="rect">
            <a:avLst/>
          </a:prstGeom>
          <a:noFill/>
          <a:ln/>
        </p:spPr>
        <p:txBody>
          <a:bodyPr wrap="square" rtlCol="0" anchor="ctr"/>
          <a:lstStyle/>
          <a:p>
            <a:pPr indent="0" marL="0">
              <a:buNone/>
            </a:pPr>
            <a:r>
              <a:rPr lang="en-US" sz="1250" b="1" dirty="0">
                <a:solidFill>
                  <a:srgbClr val="1A2B4A"/>
                </a:solidFill>
                <a:latin typeface="Calibri" pitchFamily="34" charset="0"/>
                <a:ea typeface="Calibri" pitchFamily="34" charset="-122"/>
                <a:cs typeface="Calibri" pitchFamily="34" charset="-120"/>
              </a:rPr>
              <a:t>Hotel Booking</a:t>
            </a:r>
            <a:endParaRPr lang="en-US" sz="1250" dirty="0"/>
          </a:p>
        </p:txBody>
      </p:sp>
      <p:sp>
        <p:nvSpPr>
          <p:cNvPr id="24" name="Text 22"/>
          <p:cNvSpPr/>
          <p:nvPr/>
        </p:nvSpPr>
        <p:spPr>
          <a:xfrm>
            <a:off x="5321808" y="3950208"/>
            <a:ext cx="3200400" cy="640080"/>
          </a:xfrm>
          <a:prstGeom prst="rect">
            <a:avLst/>
          </a:prstGeom>
          <a:noFill/>
          <a:ln/>
        </p:spPr>
        <p:txBody>
          <a:bodyPr wrap="square" rtlCol="0" anchor="ctr"/>
          <a:lstStyle/>
          <a:p>
            <a:pPr indent="0" marL="0">
              <a:buNone/>
            </a:pPr>
            <a:r>
              <a:rPr lang="en-US" sz="1100" dirty="0">
                <a:solidFill>
                  <a:srgbClr val="4E6A80"/>
                </a:solidFill>
                <a:latin typeface="Calibri" pitchFamily="34" charset="0"/>
                <a:ea typeface="Calibri" pitchFamily="34" charset="-122"/>
                <a:cs typeface="Calibri" pitchFamily="34" charset="-120"/>
              </a:rPr>
              <a:t>Mark room unavailable AND process payment must happen together.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ACID Properties</a:t>
            </a:r>
            <a:endParaRPr lang="en-US" sz="3200" dirty="0"/>
          </a:p>
        </p:txBody>
      </p:sp>
      <p:sp>
        <p:nvSpPr>
          <p:cNvPr id="3" name="Text 1"/>
          <p:cNvSpPr/>
          <p:nvPr/>
        </p:nvSpPr>
        <p:spPr>
          <a:xfrm>
            <a:off x="457200" y="822960"/>
            <a:ext cx="8229600" cy="347472"/>
          </a:xfrm>
          <a:prstGeom prst="rect">
            <a:avLst/>
          </a:prstGeom>
          <a:noFill/>
          <a:ln/>
        </p:spPr>
        <p:txBody>
          <a:bodyPr wrap="square" rtlCol="0" anchor="ctr"/>
          <a:lstStyle/>
          <a:p>
            <a:pPr algn="l" indent="0" marL="0">
              <a:buNone/>
            </a:pPr>
            <a:r>
              <a:rPr lang="en-US" sz="1400" i="1" dirty="0">
                <a:solidFill>
                  <a:srgbClr val="7FAFC5"/>
                </a:solidFill>
                <a:latin typeface="Calibri" pitchFamily="34" charset="0"/>
                <a:ea typeface="Calibri" pitchFamily="34" charset="-122"/>
                <a:cs typeface="Calibri" pitchFamily="34" charset="-120"/>
              </a:rPr>
              <a:t>Four fundamental guarantees that every reliable database transaction must satisfy</a:t>
            </a:r>
            <a:endParaRPr lang="en-US" sz="1400" dirty="0"/>
          </a:p>
        </p:txBody>
      </p:sp>
      <p:sp>
        <p:nvSpPr>
          <p:cNvPr id="4" name="Shape 2"/>
          <p:cNvSpPr/>
          <p:nvPr/>
        </p:nvSpPr>
        <p:spPr>
          <a:xfrm>
            <a:off x="384048" y="1298448"/>
            <a:ext cx="2011680" cy="3566160"/>
          </a:xfrm>
          <a:prstGeom prst="roundRect">
            <a:avLst>
              <a:gd name="adj" fmla="val 5455"/>
            </a:avLst>
          </a:prstGeom>
          <a:solidFill>
            <a:srgbClr val="0E2233"/>
          </a:solidFill>
          <a:ln w="25400">
            <a:solidFill>
              <a:srgbClr val="0096C7"/>
            </a:solidFill>
            <a:prstDash val="solid"/>
          </a:ln>
        </p:spPr>
      </p:sp>
      <p:sp>
        <p:nvSpPr>
          <p:cNvPr id="5" name="Shape 3"/>
          <p:cNvSpPr/>
          <p:nvPr/>
        </p:nvSpPr>
        <p:spPr>
          <a:xfrm>
            <a:off x="950976" y="1481328"/>
            <a:ext cx="877824" cy="877824"/>
          </a:xfrm>
          <a:prstGeom prst="ellipse">
            <a:avLst/>
          </a:prstGeom>
          <a:solidFill>
            <a:srgbClr val="0096C7"/>
          </a:solidFill>
          <a:ln w="12700">
            <a:solidFill>
              <a:srgbClr val="0096C7"/>
            </a:solidFill>
            <a:prstDash val="solid"/>
          </a:ln>
        </p:spPr>
      </p:sp>
      <p:sp>
        <p:nvSpPr>
          <p:cNvPr id="6" name="Text 4"/>
          <p:cNvSpPr/>
          <p:nvPr/>
        </p:nvSpPr>
        <p:spPr>
          <a:xfrm>
            <a:off x="950976" y="1481328"/>
            <a:ext cx="877824" cy="877824"/>
          </a:xfrm>
          <a:prstGeom prst="rect">
            <a:avLst/>
          </a:prstGeom>
          <a:noFill/>
          <a:ln/>
        </p:spPr>
        <p:txBody>
          <a:bodyPr wrap="square" rtlCol="0" anchor="ctr"/>
          <a:lstStyle/>
          <a:p>
            <a:pPr algn="ctr" indent="0" marL="0">
              <a:buNone/>
            </a:pPr>
            <a:r>
              <a:rPr lang="en-US" sz="3000" b="1" dirty="0">
                <a:solidFill>
                  <a:srgbClr val="0D1B2A"/>
                </a:solidFill>
                <a:latin typeface="Calibri" pitchFamily="34" charset="0"/>
                <a:ea typeface="Calibri" pitchFamily="34" charset="-122"/>
                <a:cs typeface="Calibri" pitchFamily="34" charset="-120"/>
              </a:rPr>
              <a:t>A</a:t>
            </a:r>
            <a:endParaRPr lang="en-US" sz="3000" dirty="0"/>
          </a:p>
        </p:txBody>
      </p:sp>
      <p:sp>
        <p:nvSpPr>
          <p:cNvPr id="7" name="Text 5"/>
          <p:cNvSpPr/>
          <p:nvPr/>
        </p:nvSpPr>
        <p:spPr>
          <a:xfrm>
            <a:off x="475488" y="2487168"/>
            <a:ext cx="1828800" cy="365760"/>
          </a:xfrm>
          <a:prstGeom prst="rect">
            <a:avLst/>
          </a:prstGeom>
          <a:noFill/>
          <a:ln/>
        </p:spPr>
        <p:txBody>
          <a:bodyPr wrap="square" rtlCol="0" anchor="ctr"/>
          <a:lstStyle/>
          <a:p>
            <a:pPr algn="ctr" indent="0" marL="0">
              <a:buNone/>
            </a:pPr>
            <a:r>
              <a:rPr lang="en-US" sz="1500" b="1" dirty="0">
                <a:solidFill>
                  <a:srgbClr val="0096C7"/>
                </a:solidFill>
                <a:latin typeface="Calibri" pitchFamily="34" charset="0"/>
                <a:ea typeface="Calibri" pitchFamily="34" charset="-122"/>
                <a:cs typeface="Calibri" pitchFamily="34" charset="-120"/>
              </a:rPr>
              <a:t>Atomicity</a:t>
            </a:r>
            <a:endParaRPr lang="en-US" sz="1500" dirty="0"/>
          </a:p>
        </p:txBody>
      </p:sp>
      <p:sp>
        <p:nvSpPr>
          <p:cNvPr id="8" name="Text 6"/>
          <p:cNvSpPr/>
          <p:nvPr/>
        </p:nvSpPr>
        <p:spPr>
          <a:xfrm>
            <a:off x="493776" y="2907792"/>
            <a:ext cx="1792224" cy="1417320"/>
          </a:xfrm>
          <a:prstGeom prst="rect">
            <a:avLst/>
          </a:prstGeom>
          <a:noFill/>
          <a:ln/>
        </p:spPr>
        <p:txBody>
          <a:bodyPr wrap="square" rtlCol="0" anchor="ctr"/>
          <a:lstStyle/>
          <a:p>
            <a:pPr algn="l" indent="0" marL="0">
              <a:buNone/>
            </a:pPr>
            <a:r>
              <a:rPr lang="en-US" sz="1050" dirty="0">
                <a:solidFill>
                  <a:srgbClr val="A8C8DC"/>
                </a:solidFill>
                <a:latin typeface="Calibri" pitchFamily="34" charset="0"/>
                <a:ea typeface="Calibri" pitchFamily="34" charset="-122"/>
                <a:cs typeface="Calibri" pitchFamily="34" charset="-120"/>
              </a:rPr>
              <a:t>All operations succeed or NONE do — no partial commits.</a:t>
            </a:r>
            <a:endParaRPr lang="en-US" sz="1050" dirty="0"/>
          </a:p>
        </p:txBody>
      </p:sp>
      <p:sp>
        <p:nvSpPr>
          <p:cNvPr id="9" name="Shape 7"/>
          <p:cNvSpPr/>
          <p:nvPr/>
        </p:nvSpPr>
        <p:spPr>
          <a:xfrm>
            <a:off x="493776" y="4407408"/>
            <a:ext cx="1792224" cy="310896"/>
          </a:xfrm>
          <a:prstGeom prst="roundRect">
            <a:avLst>
              <a:gd name="adj" fmla="val 17647"/>
            </a:avLst>
          </a:prstGeom>
          <a:solidFill>
            <a:srgbClr val="0096C7">
              <a:alpha val="20000"/>
            </a:srgbClr>
          </a:solidFill>
          <a:ln w="12700">
            <a:solidFill>
              <a:srgbClr val="0096C7"/>
            </a:solidFill>
            <a:prstDash val="solid"/>
          </a:ln>
        </p:spPr>
      </p:sp>
      <p:sp>
        <p:nvSpPr>
          <p:cNvPr id="10" name="Text 8"/>
          <p:cNvSpPr/>
          <p:nvPr/>
        </p:nvSpPr>
        <p:spPr>
          <a:xfrm>
            <a:off x="493776" y="4407408"/>
            <a:ext cx="1792224" cy="310896"/>
          </a:xfrm>
          <a:prstGeom prst="rect">
            <a:avLst/>
          </a:prstGeom>
          <a:noFill/>
          <a:ln/>
        </p:spPr>
        <p:txBody>
          <a:bodyPr wrap="square" rtlCol="0" anchor="ctr"/>
          <a:lstStyle/>
          <a:p>
            <a:pPr algn="ctr" indent="0" marL="0">
              <a:buNone/>
            </a:pPr>
            <a:r>
              <a:rPr lang="en-US" sz="900" b="1" dirty="0">
                <a:solidFill>
                  <a:srgbClr val="0096C7"/>
                </a:solidFill>
                <a:latin typeface="Calibri" pitchFamily="34" charset="0"/>
                <a:ea typeface="Calibri" pitchFamily="34" charset="-122"/>
                <a:cs typeface="Calibri" pitchFamily="34" charset="-120"/>
              </a:rPr>
              <a:t>All-or-Nothing</a:t>
            </a:r>
            <a:endParaRPr lang="en-US" sz="900" dirty="0"/>
          </a:p>
        </p:txBody>
      </p:sp>
      <p:sp>
        <p:nvSpPr>
          <p:cNvPr id="11" name="Shape 9"/>
          <p:cNvSpPr/>
          <p:nvPr/>
        </p:nvSpPr>
        <p:spPr>
          <a:xfrm>
            <a:off x="2532888" y="1298448"/>
            <a:ext cx="2011680" cy="3566160"/>
          </a:xfrm>
          <a:prstGeom prst="roundRect">
            <a:avLst>
              <a:gd name="adj" fmla="val 5455"/>
            </a:avLst>
          </a:prstGeom>
          <a:solidFill>
            <a:srgbClr val="0E2233"/>
          </a:solidFill>
          <a:ln w="25400">
            <a:solidFill>
              <a:srgbClr val="02A896"/>
            </a:solidFill>
            <a:prstDash val="solid"/>
          </a:ln>
        </p:spPr>
      </p:sp>
      <p:sp>
        <p:nvSpPr>
          <p:cNvPr id="12" name="Shape 10"/>
          <p:cNvSpPr/>
          <p:nvPr/>
        </p:nvSpPr>
        <p:spPr>
          <a:xfrm>
            <a:off x="3099816" y="1481328"/>
            <a:ext cx="877824" cy="877824"/>
          </a:xfrm>
          <a:prstGeom prst="ellipse">
            <a:avLst/>
          </a:prstGeom>
          <a:solidFill>
            <a:srgbClr val="02A896"/>
          </a:solidFill>
          <a:ln w="12700">
            <a:solidFill>
              <a:srgbClr val="02A896"/>
            </a:solidFill>
            <a:prstDash val="solid"/>
          </a:ln>
        </p:spPr>
      </p:sp>
      <p:sp>
        <p:nvSpPr>
          <p:cNvPr id="13" name="Text 11"/>
          <p:cNvSpPr/>
          <p:nvPr/>
        </p:nvSpPr>
        <p:spPr>
          <a:xfrm>
            <a:off x="3099816" y="1481328"/>
            <a:ext cx="877824" cy="877824"/>
          </a:xfrm>
          <a:prstGeom prst="rect">
            <a:avLst/>
          </a:prstGeom>
          <a:noFill/>
          <a:ln/>
        </p:spPr>
        <p:txBody>
          <a:bodyPr wrap="square" rtlCol="0" anchor="ctr"/>
          <a:lstStyle/>
          <a:p>
            <a:pPr algn="ctr" indent="0" marL="0">
              <a:buNone/>
            </a:pPr>
            <a:r>
              <a:rPr lang="en-US" sz="3000" b="1" dirty="0">
                <a:solidFill>
                  <a:srgbClr val="0D1B2A"/>
                </a:solidFill>
                <a:latin typeface="Calibri" pitchFamily="34" charset="0"/>
                <a:ea typeface="Calibri" pitchFamily="34" charset="-122"/>
                <a:cs typeface="Calibri" pitchFamily="34" charset="-120"/>
              </a:rPr>
              <a:t>C</a:t>
            </a:r>
            <a:endParaRPr lang="en-US" sz="3000" dirty="0"/>
          </a:p>
        </p:txBody>
      </p:sp>
      <p:sp>
        <p:nvSpPr>
          <p:cNvPr id="14" name="Text 12"/>
          <p:cNvSpPr/>
          <p:nvPr/>
        </p:nvSpPr>
        <p:spPr>
          <a:xfrm>
            <a:off x="2624328" y="2487168"/>
            <a:ext cx="1828800" cy="365760"/>
          </a:xfrm>
          <a:prstGeom prst="rect">
            <a:avLst/>
          </a:prstGeom>
          <a:noFill/>
          <a:ln/>
        </p:spPr>
        <p:txBody>
          <a:bodyPr wrap="square" rtlCol="0" anchor="ctr"/>
          <a:lstStyle/>
          <a:p>
            <a:pPr algn="ctr" indent="0" marL="0">
              <a:buNone/>
            </a:pPr>
            <a:r>
              <a:rPr lang="en-US" sz="1500" b="1" dirty="0">
                <a:solidFill>
                  <a:srgbClr val="02A896"/>
                </a:solidFill>
                <a:latin typeface="Calibri" pitchFamily="34" charset="0"/>
                <a:ea typeface="Calibri" pitchFamily="34" charset="-122"/>
                <a:cs typeface="Calibri" pitchFamily="34" charset="-120"/>
              </a:rPr>
              <a:t>Consistency</a:t>
            </a:r>
            <a:endParaRPr lang="en-US" sz="1500" dirty="0"/>
          </a:p>
        </p:txBody>
      </p:sp>
      <p:sp>
        <p:nvSpPr>
          <p:cNvPr id="15" name="Text 13"/>
          <p:cNvSpPr/>
          <p:nvPr/>
        </p:nvSpPr>
        <p:spPr>
          <a:xfrm>
            <a:off x="2642616" y="2907792"/>
            <a:ext cx="1792224" cy="1417320"/>
          </a:xfrm>
          <a:prstGeom prst="rect">
            <a:avLst/>
          </a:prstGeom>
          <a:noFill/>
          <a:ln/>
        </p:spPr>
        <p:txBody>
          <a:bodyPr wrap="square" rtlCol="0" anchor="ctr"/>
          <a:lstStyle/>
          <a:p>
            <a:pPr algn="l" indent="0" marL="0">
              <a:buNone/>
            </a:pPr>
            <a:r>
              <a:rPr lang="en-US" sz="1050" dirty="0">
                <a:solidFill>
                  <a:srgbClr val="A8C8DC"/>
                </a:solidFill>
                <a:latin typeface="Calibri" pitchFamily="34" charset="0"/>
                <a:ea typeface="Calibri" pitchFamily="34" charset="-122"/>
                <a:cs typeface="Calibri" pitchFamily="34" charset="-120"/>
              </a:rPr>
              <a:t>Database moves from one valid state to another. Rules enforced.</a:t>
            </a:r>
            <a:endParaRPr lang="en-US" sz="1050" dirty="0"/>
          </a:p>
        </p:txBody>
      </p:sp>
      <p:sp>
        <p:nvSpPr>
          <p:cNvPr id="16" name="Shape 14"/>
          <p:cNvSpPr/>
          <p:nvPr/>
        </p:nvSpPr>
        <p:spPr>
          <a:xfrm>
            <a:off x="2642616" y="4407408"/>
            <a:ext cx="1792224" cy="310896"/>
          </a:xfrm>
          <a:prstGeom prst="roundRect">
            <a:avLst>
              <a:gd name="adj" fmla="val 17647"/>
            </a:avLst>
          </a:prstGeom>
          <a:solidFill>
            <a:srgbClr val="02A896">
              <a:alpha val="20000"/>
            </a:srgbClr>
          </a:solidFill>
          <a:ln w="12700">
            <a:solidFill>
              <a:srgbClr val="02A896"/>
            </a:solidFill>
            <a:prstDash val="solid"/>
          </a:ln>
        </p:spPr>
      </p:sp>
      <p:sp>
        <p:nvSpPr>
          <p:cNvPr id="17" name="Text 15"/>
          <p:cNvSpPr/>
          <p:nvPr/>
        </p:nvSpPr>
        <p:spPr>
          <a:xfrm>
            <a:off x="2642616" y="4407408"/>
            <a:ext cx="1792224" cy="310896"/>
          </a:xfrm>
          <a:prstGeom prst="rect">
            <a:avLst/>
          </a:prstGeom>
          <a:noFill/>
          <a:ln/>
        </p:spPr>
        <p:txBody>
          <a:bodyPr wrap="square" rtlCol="0" anchor="ctr"/>
          <a:lstStyle/>
          <a:p>
            <a:pPr algn="ctr" indent="0" marL="0">
              <a:buNone/>
            </a:pPr>
            <a:r>
              <a:rPr lang="en-US" sz="900" b="1" dirty="0">
                <a:solidFill>
                  <a:srgbClr val="02A896"/>
                </a:solidFill>
                <a:latin typeface="Calibri" pitchFamily="34" charset="0"/>
                <a:ea typeface="Calibri" pitchFamily="34" charset="-122"/>
                <a:cs typeface="Calibri" pitchFamily="34" charset="-120"/>
              </a:rPr>
              <a:t>Data Validity</a:t>
            </a:r>
            <a:endParaRPr lang="en-US" sz="900" dirty="0"/>
          </a:p>
        </p:txBody>
      </p:sp>
      <p:sp>
        <p:nvSpPr>
          <p:cNvPr id="18" name="Shape 16"/>
          <p:cNvSpPr/>
          <p:nvPr/>
        </p:nvSpPr>
        <p:spPr>
          <a:xfrm>
            <a:off x="4681728" y="1298448"/>
            <a:ext cx="2011680" cy="3566160"/>
          </a:xfrm>
          <a:prstGeom prst="roundRect">
            <a:avLst>
              <a:gd name="adj" fmla="val 5455"/>
            </a:avLst>
          </a:prstGeom>
          <a:solidFill>
            <a:srgbClr val="0E2233"/>
          </a:solidFill>
          <a:ln w="25400">
            <a:solidFill>
              <a:srgbClr val="F5A623"/>
            </a:solidFill>
            <a:prstDash val="solid"/>
          </a:ln>
        </p:spPr>
      </p:sp>
      <p:sp>
        <p:nvSpPr>
          <p:cNvPr id="19" name="Shape 17"/>
          <p:cNvSpPr/>
          <p:nvPr/>
        </p:nvSpPr>
        <p:spPr>
          <a:xfrm>
            <a:off x="5248656" y="1481328"/>
            <a:ext cx="877824" cy="877824"/>
          </a:xfrm>
          <a:prstGeom prst="ellipse">
            <a:avLst/>
          </a:prstGeom>
          <a:solidFill>
            <a:srgbClr val="F5A623"/>
          </a:solidFill>
          <a:ln w="12700">
            <a:solidFill>
              <a:srgbClr val="F5A623"/>
            </a:solidFill>
            <a:prstDash val="solid"/>
          </a:ln>
        </p:spPr>
      </p:sp>
      <p:sp>
        <p:nvSpPr>
          <p:cNvPr id="20" name="Text 18"/>
          <p:cNvSpPr/>
          <p:nvPr/>
        </p:nvSpPr>
        <p:spPr>
          <a:xfrm>
            <a:off x="5248656" y="1481328"/>
            <a:ext cx="877824" cy="877824"/>
          </a:xfrm>
          <a:prstGeom prst="rect">
            <a:avLst/>
          </a:prstGeom>
          <a:noFill/>
          <a:ln/>
        </p:spPr>
        <p:txBody>
          <a:bodyPr wrap="square" rtlCol="0" anchor="ctr"/>
          <a:lstStyle/>
          <a:p>
            <a:pPr algn="ctr" indent="0" marL="0">
              <a:buNone/>
            </a:pPr>
            <a:r>
              <a:rPr lang="en-US" sz="3000" b="1" dirty="0">
                <a:solidFill>
                  <a:srgbClr val="0D1B2A"/>
                </a:solidFill>
                <a:latin typeface="Calibri" pitchFamily="34" charset="0"/>
                <a:ea typeface="Calibri" pitchFamily="34" charset="-122"/>
                <a:cs typeface="Calibri" pitchFamily="34" charset="-120"/>
              </a:rPr>
              <a:t>I</a:t>
            </a:r>
            <a:endParaRPr lang="en-US" sz="3000" dirty="0"/>
          </a:p>
        </p:txBody>
      </p:sp>
      <p:sp>
        <p:nvSpPr>
          <p:cNvPr id="21" name="Text 19"/>
          <p:cNvSpPr/>
          <p:nvPr/>
        </p:nvSpPr>
        <p:spPr>
          <a:xfrm>
            <a:off x="4773168" y="2487168"/>
            <a:ext cx="1828800" cy="365760"/>
          </a:xfrm>
          <a:prstGeom prst="rect">
            <a:avLst/>
          </a:prstGeom>
          <a:noFill/>
          <a:ln/>
        </p:spPr>
        <p:txBody>
          <a:bodyPr wrap="square"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Isolation</a:t>
            </a:r>
            <a:endParaRPr lang="en-US" sz="1500" dirty="0"/>
          </a:p>
        </p:txBody>
      </p:sp>
      <p:sp>
        <p:nvSpPr>
          <p:cNvPr id="22" name="Text 20"/>
          <p:cNvSpPr/>
          <p:nvPr/>
        </p:nvSpPr>
        <p:spPr>
          <a:xfrm>
            <a:off x="4791456" y="2907792"/>
            <a:ext cx="1792224" cy="1417320"/>
          </a:xfrm>
          <a:prstGeom prst="rect">
            <a:avLst/>
          </a:prstGeom>
          <a:noFill/>
          <a:ln/>
        </p:spPr>
        <p:txBody>
          <a:bodyPr wrap="square" rtlCol="0" anchor="ctr"/>
          <a:lstStyle/>
          <a:p>
            <a:pPr algn="l" indent="0" marL="0">
              <a:buNone/>
            </a:pPr>
            <a:r>
              <a:rPr lang="en-US" sz="1050" dirty="0">
                <a:solidFill>
                  <a:srgbClr val="A8C8DC"/>
                </a:solidFill>
                <a:latin typeface="Calibri" pitchFamily="34" charset="0"/>
                <a:ea typeface="Calibri" pitchFamily="34" charset="-122"/>
                <a:cs typeface="Calibri" pitchFamily="34" charset="-120"/>
              </a:rPr>
              <a:t>Concurrent transactions don't interfere with each other.</a:t>
            </a:r>
            <a:endParaRPr lang="en-US" sz="1050" dirty="0"/>
          </a:p>
        </p:txBody>
      </p:sp>
      <p:sp>
        <p:nvSpPr>
          <p:cNvPr id="23" name="Shape 21"/>
          <p:cNvSpPr/>
          <p:nvPr/>
        </p:nvSpPr>
        <p:spPr>
          <a:xfrm>
            <a:off x="4791456" y="4407408"/>
            <a:ext cx="1792224" cy="310896"/>
          </a:xfrm>
          <a:prstGeom prst="roundRect">
            <a:avLst>
              <a:gd name="adj" fmla="val 17647"/>
            </a:avLst>
          </a:prstGeom>
          <a:solidFill>
            <a:srgbClr val="F5A623">
              <a:alpha val="20000"/>
            </a:srgbClr>
          </a:solidFill>
          <a:ln w="12700">
            <a:solidFill>
              <a:srgbClr val="F5A623"/>
            </a:solidFill>
            <a:prstDash val="solid"/>
          </a:ln>
        </p:spPr>
      </p:sp>
      <p:sp>
        <p:nvSpPr>
          <p:cNvPr id="24" name="Text 22"/>
          <p:cNvSpPr/>
          <p:nvPr/>
        </p:nvSpPr>
        <p:spPr>
          <a:xfrm>
            <a:off x="4791456" y="4407408"/>
            <a:ext cx="1792224" cy="310896"/>
          </a:xfrm>
          <a:prstGeom prst="rect">
            <a:avLst/>
          </a:prstGeom>
          <a:noFill/>
          <a:ln/>
        </p:spPr>
        <p:txBody>
          <a:bodyPr wrap="square" rtlCol="0" anchor="ctr"/>
          <a:lstStyle/>
          <a:p>
            <a:pPr algn="ctr" indent="0" marL="0">
              <a:buNone/>
            </a:pPr>
            <a:r>
              <a:rPr lang="en-US" sz="900" b="1" dirty="0">
                <a:solidFill>
                  <a:srgbClr val="F5A623"/>
                </a:solidFill>
                <a:latin typeface="Calibri" pitchFamily="34" charset="0"/>
                <a:ea typeface="Calibri" pitchFamily="34" charset="-122"/>
                <a:cs typeface="Calibri" pitchFamily="34" charset="-120"/>
              </a:rPr>
              <a:t>Independence</a:t>
            </a:r>
            <a:endParaRPr lang="en-US" sz="900" dirty="0"/>
          </a:p>
        </p:txBody>
      </p:sp>
      <p:sp>
        <p:nvSpPr>
          <p:cNvPr id="25" name="Shape 23"/>
          <p:cNvSpPr/>
          <p:nvPr/>
        </p:nvSpPr>
        <p:spPr>
          <a:xfrm>
            <a:off x="6830568" y="1298448"/>
            <a:ext cx="2011680" cy="3566160"/>
          </a:xfrm>
          <a:prstGeom prst="roundRect">
            <a:avLst>
              <a:gd name="adj" fmla="val 5455"/>
            </a:avLst>
          </a:prstGeom>
          <a:solidFill>
            <a:srgbClr val="0E2233"/>
          </a:solidFill>
          <a:ln w="25400">
            <a:solidFill>
              <a:srgbClr val="E05252"/>
            </a:solidFill>
            <a:prstDash val="solid"/>
          </a:ln>
        </p:spPr>
      </p:sp>
      <p:sp>
        <p:nvSpPr>
          <p:cNvPr id="26" name="Shape 24"/>
          <p:cNvSpPr/>
          <p:nvPr/>
        </p:nvSpPr>
        <p:spPr>
          <a:xfrm>
            <a:off x="7397496" y="1481328"/>
            <a:ext cx="877824" cy="877824"/>
          </a:xfrm>
          <a:prstGeom prst="ellipse">
            <a:avLst/>
          </a:prstGeom>
          <a:solidFill>
            <a:srgbClr val="E05252"/>
          </a:solidFill>
          <a:ln w="12700">
            <a:solidFill>
              <a:srgbClr val="E05252"/>
            </a:solidFill>
            <a:prstDash val="solid"/>
          </a:ln>
        </p:spPr>
      </p:sp>
      <p:sp>
        <p:nvSpPr>
          <p:cNvPr id="27" name="Text 25"/>
          <p:cNvSpPr/>
          <p:nvPr/>
        </p:nvSpPr>
        <p:spPr>
          <a:xfrm>
            <a:off x="7397496" y="1481328"/>
            <a:ext cx="877824" cy="877824"/>
          </a:xfrm>
          <a:prstGeom prst="rect">
            <a:avLst/>
          </a:prstGeom>
          <a:noFill/>
          <a:ln/>
        </p:spPr>
        <p:txBody>
          <a:bodyPr wrap="square" rtlCol="0" anchor="ctr"/>
          <a:lstStyle/>
          <a:p>
            <a:pPr algn="ctr" indent="0" marL="0">
              <a:buNone/>
            </a:pPr>
            <a:r>
              <a:rPr lang="en-US" sz="3000" b="1" dirty="0">
                <a:solidFill>
                  <a:srgbClr val="0D1B2A"/>
                </a:solidFill>
                <a:latin typeface="Calibri" pitchFamily="34" charset="0"/>
                <a:ea typeface="Calibri" pitchFamily="34" charset="-122"/>
                <a:cs typeface="Calibri" pitchFamily="34" charset="-120"/>
              </a:rPr>
              <a:t>D</a:t>
            </a:r>
            <a:endParaRPr lang="en-US" sz="3000" dirty="0"/>
          </a:p>
        </p:txBody>
      </p:sp>
      <p:sp>
        <p:nvSpPr>
          <p:cNvPr id="28" name="Text 26"/>
          <p:cNvSpPr/>
          <p:nvPr/>
        </p:nvSpPr>
        <p:spPr>
          <a:xfrm>
            <a:off x="6922008" y="2487168"/>
            <a:ext cx="1828800" cy="365760"/>
          </a:xfrm>
          <a:prstGeom prst="rect">
            <a:avLst/>
          </a:prstGeom>
          <a:noFill/>
          <a:ln/>
        </p:spPr>
        <p:txBody>
          <a:bodyPr wrap="square" rtlCol="0" anchor="ctr"/>
          <a:lstStyle/>
          <a:p>
            <a:pPr algn="ctr" indent="0" marL="0">
              <a:buNone/>
            </a:pPr>
            <a:r>
              <a:rPr lang="en-US" sz="1500" b="1" dirty="0">
                <a:solidFill>
                  <a:srgbClr val="E05252"/>
                </a:solidFill>
                <a:latin typeface="Calibri" pitchFamily="34" charset="0"/>
                <a:ea typeface="Calibri" pitchFamily="34" charset="-122"/>
                <a:cs typeface="Calibri" pitchFamily="34" charset="-120"/>
              </a:rPr>
              <a:t>Durability</a:t>
            </a:r>
            <a:endParaRPr lang="en-US" sz="1500" dirty="0"/>
          </a:p>
        </p:txBody>
      </p:sp>
      <p:sp>
        <p:nvSpPr>
          <p:cNvPr id="29" name="Text 27"/>
          <p:cNvSpPr/>
          <p:nvPr/>
        </p:nvSpPr>
        <p:spPr>
          <a:xfrm>
            <a:off x="6940296" y="2907792"/>
            <a:ext cx="1792224" cy="1417320"/>
          </a:xfrm>
          <a:prstGeom prst="rect">
            <a:avLst/>
          </a:prstGeom>
          <a:noFill/>
          <a:ln/>
        </p:spPr>
        <p:txBody>
          <a:bodyPr wrap="square" rtlCol="0" anchor="ctr"/>
          <a:lstStyle/>
          <a:p>
            <a:pPr algn="l" indent="0" marL="0">
              <a:buNone/>
            </a:pPr>
            <a:r>
              <a:rPr lang="en-US" sz="1050" dirty="0">
                <a:solidFill>
                  <a:srgbClr val="A8C8DC"/>
                </a:solidFill>
                <a:latin typeface="Calibri" pitchFamily="34" charset="0"/>
                <a:ea typeface="Calibri" pitchFamily="34" charset="-122"/>
                <a:cs typeface="Calibri" pitchFamily="34" charset="-120"/>
              </a:rPr>
              <a:t>Committed data persists permanently — even after system crashes.</a:t>
            </a:r>
            <a:endParaRPr lang="en-US" sz="1050" dirty="0"/>
          </a:p>
        </p:txBody>
      </p:sp>
      <p:sp>
        <p:nvSpPr>
          <p:cNvPr id="30" name="Shape 28"/>
          <p:cNvSpPr/>
          <p:nvPr/>
        </p:nvSpPr>
        <p:spPr>
          <a:xfrm>
            <a:off x="6940296" y="4407408"/>
            <a:ext cx="1792224" cy="310896"/>
          </a:xfrm>
          <a:prstGeom prst="roundRect">
            <a:avLst>
              <a:gd name="adj" fmla="val 17647"/>
            </a:avLst>
          </a:prstGeom>
          <a:solidFill>
            <a:srgbClr val="E05252">
              <a:alpha val="20000"/>
            </a:srgbClr>
          </a:solidFill>
          <a:ln w="12700">
            <a:solidFill>
              <a:srgbClr val="E05252"/>
            </a:solidFill>
            <a:prstDash val="solid"/>
          </a:ln>
        </p:spPr>
      </p:sp>
      <p:sp>
        <p:nvSpPr>
          <p:cNvPr id="31" name="Text 29"/>
          <p:cNvSpPr/>
          <p:nvPr/>
        </p:nvSpPr>
        <p:spPr>
          <a:xfrm>
            <a:off x="6940296" y="4407408"/>
            <a:ext cx="1792224" cy="310896"/>
          </a:xfrm>
          <a:prstGeom prst="rect">
            <a:avLst/>
          </a:prstGeom>
          <a:noFill/>
          <a:ln/>
        </p:spPr>
        <p:txBody>
          <a:bodyPr wrap="square" rtlCol="0" anchor="ctr"/>
          <a:lstStyle/>
          <a:p>
            <a:pPr algn="ctr" indent="0" marL="0">
              <a:buNone/>
            </a:pPr>
            <a:r>
              <a:rPr lang="en-US" sz="900" b="1" dirty="0">
                <a:solidFill>
                  <a:srgbClr val="E05252"/>
                </a:solidFill>
                <a:latin typeface="Calibri" pitchFamily="34" charset="0"/>
                <a:ea typeface="Calibri" pitchFamily="34" charset="-122"/>
                <a:cs typeface="Calibri" pitchFamily="34" charset="-120"/>
              </a:rPr>
              <a:t>Permanence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411480" y="0"/>
            <a:ext cx="8321040" cy="658368"/>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Atomicity &amp; Consistency</a:t>
            </a:r>
            <a:endParaRPr lang="en-US" sz="2200" dirty="0"/>
          </a:p>
        </p:txBody>
      </p:sp>
      <p:sp>
        <p:nvSpPr>
          <p:cNvPr id="4" name="Shape 2"/>
          <p:cNvSpPr/>
          <p:nvPr/>
        </p:nvSpPr>
        <p:spPr>
          <a:xfrm>
            <a:off x="91440" y="201168"/>
            <a:ext cx="256032" cy="256032"/>
          </a:xfrm>
          <a:prstGeom prst="ellipse">
            <a:avLst/>
          </a:prstGeom>
          <a:solidFill>
            <a:srgbClr val="0096C7"/>
          </a:solidFill>
          <a:ln w="12700">
            <a:solidFill>
              <a:srgbClr val="0096C7"/>
            </a:solidFill>
            <a:prstDash val="solid"/>
          </a:ln>
        </p:spPr>
      </p:sp>
      <p:sp>
        <p:nvSpPr>
          <p:cNvPr id="5" name="Shape 3"/>
          <p:cNvSpPr/>
          <p:nvPr/>
        </p:nvSpPr>
        <p:spPr>
          <a:xfrm>
            <a:off x="365760" y="841248"/>
            <a:ext cx="4023360" cy="3977640"/>
          </a:xfrm>
          <a:prstGeom prst="roundRect">
            <a:avLst>
              <a:gd name="adj" fmla="val 2759"/>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6" name="Shape 4"/>
          <p:cNvSpPr/>
          <p:nvPr/>
        </p:nvSpPr>
        <p:spPr>
          <a:xfrm>
            <a:off x="502920" y="960120"/>
            <a:ext cx="438912" cy="438912"/>
          </a:xfrm>
          <a:prstGeom prst="ellipse">
            <a:avLst/>
          </a:prstGeom>
          <a:solidFill>
            <a:srgbClr val="0096C7"/>
          </a:solidFill>
          <a:ln w="12700">
            <a:solidFill>
              <a:srgbClr val="0096C7"/>
            </a:solidFill>
            <a:prstDash val="solid"/>
          </a:ln>
        </p:spPr>
      </p:sp>
      <p:sp>
        <p:nvSpPr>
          <p:cNvPr id="7" name="Text 5"/>
          <p:cNvSpPr/>
          <p:nvPr/>
        </p:nvSpPr>
        <p:spPr>
          <a:xfrm>
            <a:off x="502920" y="960120"/>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024128" y="978408"/>
            <a:ext cx="3200400" cy="402336"/>
          </a:xfrm>
          <a:prstGeom prst="rect">
            <a:avLst/>
          </a:prstGeom>
          <a:noFill/>
          <a:ln/>
        </p:spPr>
        <p:txBody>
          <a:bodyPr wrap="square" rtlCol="0" anchor="ctr"/>
          <a:lstStyle/>
          <a:p>
            <a:pPr indent="0" marL="0">
              <a:buNone/>
            </a:pPr>
            <a:r>
              <a:rPr lang="en-US" sz="1700" b="1" dirty="0">
                <a:solidFill>
                  <a:srgbClr val="0096C7"/>
                </a:solidFill>
                <a:latin typeface="Calibri" pitchFamily="34" charset="0"/>
                <a:ea typeface="Calibri" pitchFamily="34" charset="-122"/>
                <a:cs typeface="Calibri" pitchFamily="34" charset="-120"/>
              </a:rPr>
              <a:t>Atomicity</a:t>
            </a:r>
            <a:endParaRPr lang="en-US" sz="1700" dirty="0"/>
          </a:p>
        </p:txBody>
      </p:sp>
      <p:sp>
        <p:nvSpPr>
          <p:cNvPr id="9" name="Text 7"/>
          <p:cNvSpPr/>
          <p:nvPr/>
        </p:nvSpPr>
        <p:spPr>
          <a:xfrm>
            <a:off x="566928" y="1508760"/>
            <a:ext cx="3657600" cy="347472"/>
          </a:xfrm>
          <a:prstGeom prst="rect">
            <a:avLst/>
          </a:prstGeom>
          <a:noFill/>
          <a:ln/>
        </p:spPr>
        <p:txBody>
          <a:bodyPr wrap="square" rtlCol="0" anchor="ctr"/>
          <a:lstStyle/>
          <a:p>
            <a:pPr indent="0" marL="0">
              <a:buNone/>
            </a:pPr>
            <a:r>
              <a:rPr lang="en-US" sz="1300" b="1" i="1" dirty="0">
                <a:solidFill>
                  <a:srgbClr val="1A2B4A"/>
                </a:solidFill>
                <a:latin typeface="Calibri" pitchFamily="34" charset="0"/>
                <a:ea typeface="Calibri" pitchFamily="34" charset="-122"/>
                <a:cs typeface="Calibri" pitchFamily="34" charset="-120"/>
              </a:rPr>
              <a:t>"All or Nothing"</a:t>
            </a:r>
            <a:endParaRPr lang="en-US" sz="1300" dirty="0"/>
          </a:p>
        </p:txBody>
      </p:sp>
      <p:sp>
        <p:nvSpPr>
          <p:cNvPr id="10" name="Text 8"/>
          <p:cNvSpPr/>
          <p:nvPr/>
        </p:nvSpPr>
        <p:spPr>
          <a:xfrm>
            <a:off x="566928" y="1901952"/>
            <a:ext cx="3657600" cy="123444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A transaction is treated as an indivisible unit. If any one of its operations fails, the database engine rolls back all operations performed so far, restoring the database to its state before the transaction began.</a:t>
            </a:r>
            <a:endParaRPr lang="en-US" sz="1150" dirty="0"/>
          </a:p>
        </p:txBody>
      </p:sp>
      <p:sp>
        <p:nvSpPr>
          <p:cNvPr id="11" name="Shape 9"/>
          <p:cNvSpPr/>
          <p:nvPr/>
        </p:nvSpPr>
        <p:spPr>
          <a:xfrm>
            <a:off x="566928" y="3291840"/>
            <a:ext cx="1051560" cy="384048"/>
          </a:xfrm>
          <a:prstGeom prst="roundRect">
            <a:avLst>
              <a:gd name="adj" fmla="val 14286"/>
            </a:avLst>
          </a:prstGeom>
          <a:solidFill>
            <a:srgbClr val="0096C7"/>
          </a:solidFill>
          <a:ln w="12700">
            <a:solidFill>
              <a:srgbClr val="0096C7"/>
            </a:solidFill>
            <a:prstDash val="solid"/>
          </a:ln>
        </p:spPr>
      </p:sp>
      <p:sp>
        <p:nvSpPr>
          <p:cNvPr id="12" name="Text 10"/>
          <p:cNvSpPr/>
          <p:nvPr/>
        </p:nvSpPr>
        <p:spPr>
          <a:xfrm>
            <a:off x="566928" y="3291840"/>
            <a:ext cx="105156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BEGIN</a:t>
            </a:r>
            <a:endParaRPr lang="en-US" sz="1000" dirty="0"/>
          </a:p>
        </p:txBody>
      </p:sp>
      <p:sp>
        <p:nvSpPr>
          <p:cNvPr id="13" name="Shape 11"/>
          <p:cNvSpPr/>
          <p:nvPr/>
        </p:nvSpPr>
        <p:spPr>
          <a:xfrm>
            <a:off x="1591056" y="3456432"/>
            <a:ext cx="210312" cy="45720"/>
          </a:xfrm>
          <a:prstGeom prst="rect">
            <a:avLst/>
          </a:prstGeom>
          <a:solidFill>
            <a:srgbClr val="999999"/>
          </a:solidFill>
          <a:ln w="12700">
            <a:solidFill>
              <a:srgbClr val="999999"/>
            </a:solidFill>
            <a:prstDash val="solid"/>
          </a:ln>
        </p:spPr>
      </p:sp>
      <p:sp>
        <p:nvSpPr>
          <p:cNvPr id="14" name="Shape 12"/>
          <p:cNvSpPr/>
          <p:nvPr/>
        </p:nvSpPr>
        <p:spPr>
          <a:xfrm>
            <a:off x="1801368" y="3291840"/>
            <a:ext cx="1051560" cy="384048"/>
          </a:xfrm>
          <a:prstGeom prst="roundRect">
            <a:avLst>
              <a:gd name="adj" fmla="val 14286"/>
            </a:avLst>
          </a:prstGeom>
          <a:solidFill>
            <a:srgbClr val="2E9E6E"/>
          </a:solidFill>
          <a:ln w="12700">
            <a:solidFill>
              <a:srgbClr val="2E9E6E"/>
            </a:solidFill>
            <a:prstDash val="solid"/>
          </a:ln>
        </p:spPr>
      </p:sp>
      <p:sp>
        <p:nvSpPr>
          <p:cNvPr id="15" name="Text 13"/>
          <p:cNvSpPr/>
          <p:nvPr/>
        </p:nvSpPr>
        <p:spPr>
          <a:xfrm>
            <a:off x="1801368" y="3291840"/>
            <a:ext cx="105156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 1 ✓</a:t>
            </a:r>
            <a:endParaRPr lang="en-US" sz="1000" dirty="0"/>
          </a:p>
        </p:txBody>
      </p:sp>
      <p:sp>
        <p:nvSpPr>
          <p:cNvPr id="16" name="Shape 14"/>
          <p:cNvSpPr/>
          <p:nvPr/>
        </p:nvSpPr>
        <p:spPr>
          <a:xfrm>
            <a:off x="2825496" y="3456432"/>
            <a:ext cx="210312" cy="45720"/>
          </a:xfrm>
          <a:prstGeom prst="rect">
            <a:avLst/>
          </a:prstGeom>
          <a:solidFill>
            <a:srgbClr val="999999"/>
          </a:solidFill>
          <a:ln w="12700">
            <a:solidFill>
              <a:srgbClr val="999999"/>
            </a:solidFill>
            <a:prstDash val="solid"/>
          </a:ln>
        </p:spPr>
      </p:sp>
      <p:sp>
        <p:nvSpPr>
          <p:cNvPr id="17" name="Shape 15"/>
          <p:cNvSpPr/>
          <p:nvPr/>
        </p:nvSpPr>
        <p:spPr>
          <a:xfrm>
            <a:off x="3035808" y="3291840"/>
            <a:ext cx="1051560" cy="384048"/>
          </a:xfrm>
          <a:prstGeom prst="roundRect">
            <a:avLst>
              <a:gd name="adj" fmla="val 14286"/>
            </a:avLst>
          </a:prstGeom>
          <a:solidFill>
            <a:srgbClr val="E05252"/>
          </a:solidFill>
          <a:ln w="12700">
            <a:solidFill>
              <a:srgbClr val="E05252"/>
            </a:solidFill>
            <a:prstDash val="solid"/>
          </a:ln>
        </p:spPr>
      </p:sp>
      <p:sp>
        <p:nvSpPr>
          <p:cNvPr id="18" name="Text 16"/>
          <p:cNvSpPr/>
          <p:nvPr/>
        </p:nvSpPr>
        <p:spPr>
          <a:xfrm>
            <a:off x="3035808" y="3291840"/>
            <a:ext cx="105156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 2 ✗</a:t>
            </a:r>
            <a:endParaRPr lang="en-US" sz="1000" dirty="0"/>
          </a:p>
        </p:txBody>
      </p:sp>
      <p:sp>
        <p:nvSpPr>
          <p:cNvPr id="19" name="Shape 17"/>
          <p:cNvSpPr/>
          <p:nvPr/>
        </p:nvSpPr>
        <p:spPr>
          <a:xfrm>
            <a:off x="566928" y="3840480"/>
            <a:ext cx="3657600" cy="384048"/>
          </a:xfrm>
          <a:prstGeom prst="roundRect">
            <a:avLst>
              <a:gd name="adj" fmla="val 14286"/>
            </a:avLst>
          </a:prstGeom>
          <a:solidFill>
            <a:srgbClr val="FFE8E8"/>
          </a:solidFill>
          <a:ln w="12700">
            <a:solidFill>
              <a:srgbClr val="E05252"/>
            </a:solidFill>
            <a:prstDash val="solid"/>
          </a:ln>
        </p:spPr>
      </p:sp>
      <p:sp>
        <p:nvSpPr>
          <p:cNvPr id="20" name="Text 18"/>
          <p:cNvSpPr/>
          <p:nvPr/>
        </p:nvSpPr>
        <p:spPr>
          <a:xfrm>
            <a:off x="566928" y="3840480"/>
            <a:ext cx="3657600" cy="384048"/>
          </a:xfrm>
          <a:prstGeom prst="rect">
            <a:avLst/>
          </a:prstGeom>
          <a:noFill/>
          <a:ln/>
        </p:spPr>
        <p:txBody>
          <a:bodyPr wrap="square" rtlCol="0" anchor="ctr"/>
          <a:lstStyle/>
          <a:p>
            <a:pPr algn="ctr" indent="0" marL="0">
              <a:buNone/>
            </a:pPr>
            <a:r>
              <a:rPr lang="en-US" sz="1100" b="1" dirty="0">
                <a:solidFill>
                  <a:srgbClr val="E05252"/>
                </a:solidFill>
                <a:latin typeface="Calibri" pitchFamily="34" charset="0"/>
                <a:ea typeface="Calibri" pitchFamily="34" charset="-122"/>
                <a:cs typeface="Calibri" pitchFamily="34" charset="-120"/>
              </a:rPr>
              <a:t>ROLLBACK — all changes undone</a:t>
            </a:r>
            <a:endParaRPr lang="en-US" sz="1100" dirty="0"/>
          </a:p>
        </p:txBody>
      </p:sp>
      <p:sp>
        <p:nvSpPr>
          <p:cNvPr id="21" name="Shape 19"/>
          <p:cNvSpPr/>
          <p:nvPr/>
        </p:nvSpPr>
        <p:spPr>
          <a:xfrm>
            <a:off x="4709160" y="841248"/>
            <a:ext cx="4023360" cy="3977640"/>
          </a:xfrm>
          <a:prstGeom prst="roundRect">
            <a:avLst>
              <a:gd name="adj" fmla="val 2759"/>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22" name="Shape 20"/>
          <p:cNvSpPr/>
          <p:nvPr/>
        </p:nvSpPr>
        <p:spPr>
          <a:xfrm>
            <a:off x="4846320" y="960120"/>
            <a:ext cx="438912" cy="438912"/>
          </a:xfrm>
          <a:prstGeom prst="ellipse">
            <a:avLst/>
          </a:prstGeom>
          <a:solidFill>
            <a:srgbClr val="02A896"/>
          </a:solidFill>
          <a:ln w="12700">
            <a:solidFill>
              <a:srgbClr val="02A896"/>
            </a:solidFill>
            <a:prstDash val="solid"/>
          </a:ln>
        </p:spPr>
      </p:sp>
      <p:sp>
        <p:nvSpPr>
          <p:cNvPr id="23" name="Text 21"/>
          <p:cNvSpPr/>
          <p:nvPr/>
        </p:nvSpPr>
        <p:spPr>
          <a:xfrm>
            <a:off x="4846320" y="960120"/>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5367528" y="978408"/>
            <a:ext cx="3200400" cy="402336"/>
          </a:xfrm>
          <a:prstGeom prst="rect">
            <a:avLst/>
          </a:prstGeom>
          <a:noFill/>
          <a:ln/>
        </p:spPr>
        <p:txBody>
          <a:bodyPr wrap="square" rtlCol="0" anchor="ctr"/>
          <a:lstStyle/>
          <a:p>
            <a:pPr indent="0" marL="0">
              <a:buNone/>
            </a:pPr>
            <a:r>
              <a:rPr lang="en-US" sz="1700" b="1" dirty="0">
                <a:solidFill>
                  <a:srgbClr val="02A896"/>
                </a:solidFill>
                <a:latin typeface="Calibri" pitchFamily="34" charset="0"/>
                <a:ea typeface="Calibri" pitchFamily="34" charset="-122"/>
                <a:cs typeface="Calibri" pitchFamily="34" charset="-120"/>
              </a:rPr>
              <a:t>Consistency</a:t>
            </a:r>
            <a:endParaRPr lang="en-US" sz="1700" dirty="0"/>
          </a:p>
        </p:txBody>
      </p:sp>
      <p:sp>
        <p:nvSpPr>
          <p:cNvPr id="25" name="Text 23"/>
          <p:cNvSpPr/>
          <p:nvPr/>
        </p:nvSpPr>
        <p:spPr>
          <a:xfrm>
            <a:off x="4919472" y="1508760"/>
            <a:ext cx="3657600" cy="347472"/>
          </a:xfrm>
          <a:prstGeom prst="rect">
            <a:avLst/>
          </a:prstGeom>
          <a:noFill/>
          <a:ln/>
        </p:spPr>
        <p:txBody>
          <a:bodyPr wrap="square" rtlCol="0" anchor="ctr"/>
          <a:lstStyle/>
          <a:p>
            <a:pPr indent="0" marL="0">
              <a:buNone/>
            </a:pPr>
            <a:r>
              <a:rPr lang="en-US" sz="1200" b="1" i="1" dirty="0">
                <a:solidFill>
                  <a:srgbClr val="1A2B4A"/>
                </a:solidFill>
                <a:latin typeface="Calibri" pitchFamily="34" charset="0"/>
                <a:ea typeface="Calibri" pitchFamily="34" charset="-122"/>
                <a:cs typeface="Calibri" pitchFamily="34" charset="-120"/>
              </a:rPr>
              <a:t>"Data validity is always preserved"</a:t>
            </a:r>
            <a:endParaRPr lang="en-US" sz="1200" dirty="0"/>
          </a:p>
        </p:txBody>
      </p:sp>
      <p:sp>
        <p:nvSpPr>
          <p:cNvPr id="26" name="Text 24"/>
          <p:cNvSpPr/>
          <p:nvPr/>
        </p:nvSpPr>
        <p:spPr>
          <a:xfrm>
            <a:off x="4919472" y="1901952"/>
            <a:ext cx="3657600" cy="123444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Every transaction must take the database from one valid, consistent state to another. All data integrity rules, constraints, and triggers must hold true both before and after the transaction.</a:t>
            </a:r>
            <a:endParaRPr lang="en-US" sz="1150" dirty="0"/>
          </a:p>
        </p:txBody>
      </p:sp>
      <p:sp>
        <p:nvSpPr>
          <p:cNvPr id="27" name="Shape 25"/>
          <p:cNvSpPr/>
          <p:nvPr/>
        </p:nvSpPr>
        <p:spPr>
          <a:xfrm>
            <a:off x="4919472" y="3246120"/>
            <a:ext cx="201168" cy="201168"/>
          </a:xfrm>
          <a:prstGeom prst="ellipse">
            <a:avLst/>
          </a:prstGeom>
          <a:solidFill>
            <a:srgbClr val="02A896"/>
          </a:solidFill>
          <a:ln w="12700">
            <a:solidFill>
              <a:srgbClr val="02A896"/>
            </a:solidFill>
            <a:prstDash val="solid"/>
          </a:ln>
        </p:spPr>
      </p:sp>
      <p:sp>
        <p:nvSpPr>
          <p:cNvPr id="28" name="Text 26"/>
          <p:cNvSpPr/>
          <p:nvPr/>
        </p:nvSpPr>
        <p:spPr>
          <a:xfrm>
            <a:off x="5193792" y="3218688"/>
            <a:ext cx="3383280" cy="274320"/>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Primary keys must remain unique</a:t>
            </a:r>
            <a:endParaRPr lang="en-US" sz="1100" dirty="0"/>
          </a:p>
        </p:txBody>
      </p:sp>
      <p:sp>
        <p:nvSpPr>
          <p:cNvPr id="29" name="Shape 27"/>
          <p:cNvSpPr/>
          <p:nvPr/>
        </p:nvSpPr>
        <p:spPr>
          <a:xfrm>
            <a:off x="4919472" y="3611880"/>
            <a:ext cx="201168" cy="201168"/>
          </a:xfrm>
          <a:prstGeom prst="ellipse">
            <a:avLst/>
          </a:prstGeom>
          <a:solidFill>
            <a:srgbClr val="02A896"/>
          </a:solidFill>
          <a:ln w="12700">
            <a:solidFill>
              <a:srgbClr val="02A896"/>
            </a:solidFill>
            <a:prstDash val="solid"/>
          </a:ln>
        </p:spPr>
      </p:sp>
      <p:sp>
        <p:nvSpPr>
          <p:cNvPr id="30" name="Text 28"/>
          <p:cNvSpPr/>
          <p:nvPr/>
        </p:nvSpPr>
        <p:spPr>
          <a:xfrm>
            <a:off x="5193792" y="3584448"/>
            <a:ext cx="3383280" cy="274320"/>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Foreign key references stay valid</a:t>
            </a:r>
            <a:endParaRPr lang="en-US" sz="1100" dirty="0"/>
          </a:p>
        </p:txBody>
      </p:sp>
      <p:sp>
        <p:nvSpPr>
          <p:cNvPr id="31" name="Shape 29"/>
          <p:cNvSpPr/>
          <p:nvPr/>
        </p:nvSpPr>
        <p:spPr>
          <a:xfrm>
            <a:off x="4919472" y="3977640"/>
            <a:ext cx="201168" cy="201168"/>
          </a:xfrm>
          <a:prstGeom prst="ellipse">
            <a:avLst/>
          </a:prstGeom>
          <a:solidFill>
            <a:srgbClr val="02A896"/>
          </a:solidFill>
          <a:ln w="12700">
            <a:solidFill>
              <a:srgbClr val="02A896"/>
            </a:solidFill>
            <a:prstDash val="solid"/>
          </a:ln>
        </p:spPr>
      </p:sp>
      <p:sp>
        <p:nvSpPr>
          <p:cNvPr id="32" name="Text 30"/>
          <p:cNvSpPr/>
          <p:nvPr/>
        </p:nvSpPr>
        <p:spPr>
          <a:xfrm>
            <a:off x="5193792" y="3950208"/>
            <a:ext cx="3383280" cy="274320"/>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Account balance cannot go below zero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411480" y="0"/>
            <a:ext cx="8321040" cy="658368"/>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Isolation</a:t>
            </a:r>
            <a:endParaRPr lang="en-US" sz="2200" dirty="0"/>
          </a:p>
        </p:txBody>
      </p:sp>
      <p:sp>
        <p:nvSpPr>
          <p:cNvPr id="4" name="Shape 2"/>
          <p:cNvSpPr/>
          <p:nvPr/>
        </p:nvSpPr>
        <p:spPr>
          <a:xfrm>
            <a:off x="91440" y="201168"/>
            <a:ext cx="256032" cy="256032"/>
          </a:xfrm>
          <a:prstGeom prst="ellipse">
            <a:avLst/>
          </a:prstGeom>
          <a:solidFill>
            <a:srgbClr val="0096C7"/>
          </a:solidFill>
          <a:ln w="12700">
            <a:solidFill>
              <a:srgbClr val="0096C7"/>
            </a:solidFill>
            <a:prstDash val="solid"/>
          </a:ln>
        </p:spPr>
      </p:sp>
      <p:sp>
        <p:nvSpPr>
          <p:cNvPr id="5" name="Shape 3"/>
          <p:cNvSpPr/>
          <p:nvPr/>
        </p:nvSpPr>
        <p:spPr>
          <a:xfrm>
            <a:off x="411480" y="822960"/>
            <a:ext cx="438912" cy="438912"/>
          </a:xfrm>
          <a:prstGeom prst="ellipse">
            <a:avLst/>
          </a:prstGeom>
          <a:solidFill>
            <a:srgbClr val="F5A623"/>
          </a:solidFill>
          <a:ln w="12700">
            <a:solidFill>
              <a:srgbClr val="F5A623"/>
            </a:solidFill>
            <a:prstDash val="solid"/>
          </a:ln>
        </p:spPr>
      </p:sp>
      <p:sp>
        <p:nvSpPr>
          <p:cNvPr id="6" name="Text 4"/>
          <p:cNvSpPr/>
          <p:nvPr/>
        </p:nvSpPr>
        <p:spPr>
          <a:xfrm>
            <a:off x="411480" y="822960"/>
            <a:ext cx="438912" cy="438912"/>
          </a:xfrm>
          <a:prstGeom prst="rect">
            <a:avLst/>
          </a:prstGeom>
          <a:noFill/>
          <a:ln/>
        </p:spPr>
        <p:txBody>
          <a:bodyPr wrap="square"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I</a:t>
            </a:r>
            <a:endParaRPr lang="en-US" sz="1800" dirty="0"/>
          </a:p>
        </p:txBody>
      </p:sp>
      <p:sp>
        <p:nvSpPr>
          <p:cNvPr id="7" name="Text 5"/>
          <p:cNvSpPr/>
          <p:nvPr/>
        </p:nvSpPr>
        <p:spPr>
          <a:xfrm>
            <a:off x="932688" y="841248"/>
            <a:ext cx="7772400" cy="402336"/>
          </a:xfrm>
          <a:prstGeom prst="rect">
            <a:avLst/>
          </a:prstGeom>
          <a:noFill/>
          <a:ln/>
        </p:spPr>
        <p:txBody>
          <a:bodyPr wrap="square" rtlCol="0" anchor="ctr"/>
          <a:lstStyle/>
          <a:p>
            <a:pPr indent="0" marL="0">
              <a:buNone/>
            </a:pPr>
            <a:r>
              <a:rPr lang="en-US" sz="1300" dirty="0">
                <a:solidFill>
                  <a:srgbClr val="1A2B4A"/>
                </a:solidFill>
                <a:latin typeface="Calibri" pitchFamily="34" charset="0"/>
                <a:ea typeface="Calibri" pitchFamily="34" charset="-122"/>
                <a:cs typeface="Calibri" pitchFamily="34" charset="-120"/>
              </a:rPr>
              <a:t>Concurrent transactions execute independently — intermediate states are invisible to others.</a:t>
            </a:r>
            <a:endParaRPr lang="en-US" sz="1300" dirty="0"/>
          </a:p>
        </p:txBody>
      </p:sp>
      <p:sp>
        <p:nvSpPr>
          <p:cNvPr id="8" name="Text 6"/>
          <p:cNvSpPr/>
          <p:nvPr/>
        </p:nvSpPr>
        <p:spPr>
          <a:xfrm>
            <a:off x="411480" y="1417320"/>
            <a:ext cx="8229600" cy="347472"/>
          </a:xfrm>
          <a:prstGeom prst="rect">
            <a:avLst/>
          </a:prstGeom>
          <a:noFill/>
          <a:ln/>
        </p:spPr>
        <p:txBody>
          <a:bodyPr wrap="square" rtlCol="0" anchor="ctr"/>
          <a:lstStyle/>
          <a:p>
            <a:pPr indent="0" marL="0">
              <a:buNone/>
            </a:pPr>
            <a:r>
              <a:rPr lang="en-US" sz="1400" b="1" dirty="0">
                <a:solidFill>
                  <a:srgbClr val="1A2B4A"/>
                </a:solidFill>
                <a:latin typeface="Calibri" pitchFamily="34" charset="0"/>
                <a:ea typeface="Calibri" pitchFamily="34" charset="-122"/>
                <a:cs typeface="Calibri" pitchFamily="34" charset="-120"/>
              </a:rPr>
              <a:t>Isolation Levels (from weakest to strongest)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828800"/>
          <a:ext cx="8321040" cy="2560320"/>
        </p:xfrm>
        <a:graphic>
          <a:graphicData uri="http://schemas.openxmlformats.org/drawingml/2006/table">
            <a:tbl>
              <a:tblPr/>
              <a:tblGrid>
                <a:gridCol w="2011680"/>
                <a:gridCol w="1417320"/>
                <a:gridCol w="1828800"/>
                <a:gridCol w="1417320"/>
                <a:gridCol w="1280160"/>
              </a:tblGrid>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Level</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Dirty Read</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Non-Repeatable Read</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Phantom Read</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0D1B2A"/>
                    </a:solidFill>
                  </a:tcPr>
                </a:tc>
              </a:tr>
              <a:tr h="402336">
                <a:tc>
                  <a:txBody>
                    <a:bodyPr/>
                    <a:lstStyle/>
                    <a:p>
                      <a:pPr algn="l" indent="0" marL="0">
                        <a:buNone/>
                      </a:pPr>
                      <a:r>
                        <a:rPr lang="en-US" sz="1100" b="1" dirty="0">
                          <a:solidFill>
                            <a:srgbClr val="1A2B4A"/>
                          </a:solidFill>
                          <a:latin typeface="Calibri" pitchFamily="34" charset="0"/>
                          <a:ea typeface="Calibri" pitchFamily="34" charset="-122"/>
                          <a:cs typeface="Calibri" pitchFamily="34" charset="-120"/>
                        </a:rPr>
                        <a:t>READ UNCOMMITTED</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E05252"/>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E05252"/>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E05252"/>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1A2B4A"/>
                          </a:solidFill>
                          <a:latin typeface="Calibri" pitchFamily="34" charset="0"/>
                          <a:ea typeface="Calibri" pitchFamily="34" charset="-122"/>
                          <a:cs typeface="Calibri" pitchFamily="34" charset="-120"/>
                        </a:rPr>
                        <a:t>Fastest</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r>
              <a:tr h="402336">
                <a:tc>
                  <a:txBody>
                    <a:bodyPr/>
                    <a:lstStyle/>
                    <a:p>
                      <a:pPr algn="l" indent="0" marL="0">
                        <a:buNone/>
                      </a:pPr>
                      <a:r>
                        <a:rPr lang="en-US" sz="1100" b="1" dirty="0">
                          <a:solidFill>
                            <a:srgbClr val="1A2B4A"/>
                          </a:solidFill>
                          <a:latin typeface="Calibri" pitchFamily="34" charset="0"/>
                          <a:ea typeface="Calibri" pitchFamily="34" charset="-122"/>
                          <a:cs typeface="Calibri" pitchFamily="34" charset="-120"/>
                        </a:rPr>
                        <a:t>READ COMMITTED</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9E6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05252"/>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05252"/>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B4A"/>
                          </a:solidFill>
                          <a:latin typeface="Calibri" pitchFamily="34" charset="0"/>
                          <a:ea typeface="Calibri" pitchFamily="34" charset="-122"/>
                          <a:cs typeface="Calibri" pitchFamily="34" charset="-120"/>
                        </a:rPr>
                        <a:t>Fast</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1A2B4A"/>
                          </a:solidFill>
                          <a:latin typeface="Calibri" pitchFamily="34" charset="0"/>
                          <a:ea typeface="Calibri" pitchFamily="34" charset="-122"/>
                          <a:cs typeface="Calibri" pitchFamily="34" charset="-120"/>
                        </a:rPr>
                        <a:t>REPEATABLE READ</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2E9E6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2E9E6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E05252"/>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c>
                  <a:txBody>
                    <a:bodyPr/>
                    <a:lstStyle/>
                    <a:p>
                      <a:pPr algn="ctr" indent="0" marL="0">
                        <a:buNone/>
                      </a:pPr>
                      <a:r>
                        <a:rPr lang="en-US" sz="1100" dirty="0">
                          <a:solidFill>
                            <a:srgbClr val="1A2B4A"/>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0F8FF"/>
                    </a:solidFill>
                  </a:tcPr>
                </a:tc>
              </a:tr>
              <a:tr h="402336">
                <a:tc>
                  <a:txBody>
                    <a:bodyPr/>
                    <a:lstStyle/>
                    <a:p>
                      <a:pPr algn="l" indent="0" marL="0">
                        <a:buNone/>
                      </a:pPr>
                      <a:r>
                        <a:rPr lang="en-US" sz="1100" b="1" dirty="0">
                          <a:solidFill>
                            <a:srgbClr val="1A2B4A"/>
                          </a:solidFill>
                          <a:latin typeface="Calibri" pitchFamily="34" charset="0"/>
                          <a:ea typeface="Calibri" pitchFamily="34" charset="-122"/>
                          <a:cs typeface="Calibri" pitchFamily="34" charset="-120"/>
                        </a:rPr>
                        <a:t>SERIALIZABLE</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9E6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9E6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9E6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B4A"/>
                          </a:solidFill>
                          <a:latin typeface="Calibri" pitchFamily="34" charset="0"/>
                          <a:ea typeface="Calibri" pitchFamily="34" charset="-122"/>
                          <a:cs typeface="Calibri" pitchFamily="34" charset="-120"/>
                        </a:rPr>
                        <a:t>Slowest</a:t>
                      </a:r>
                      <a:endParaRPr lang="en-US" sz="1100" dirty="0">
                        <a:latin typeface="Calibri" charset="0"/>
                        <a:ea typeface="Calibri" charset="0"/>
                        <a:cs typeface="Calibri" charset="0"/>
                      </a:endParaRPr>
                    </a:p>
                  </a:txBody>
                  <a:tcPr marL="76200" marR="76200" marT="50800" marB="50800">
                    <a:lnL w="12700" cap="flat" cmpd="sng" algn="ctr">
                      <a:solidFill>
                        <a:srgbClr val="D0E4F0"/>
                      </a:solidFill>
                      <a:prstDash val="solid"/>
                      <a:round/>
                      <a:headEnd type="none" w="med" len="med"/>
                      <a:tailEnd type="none" w="med" len="med"/>
                    </a:lnL>
                    <a:lnR w="12700" cap="flat" cmpd="sng" algn="ctr">
                      <a:solidFill>
                        <a:srgbClr val="D0E4F0"/>
                      </a:solidFill>
                      <a:prstDash val="solid"/>
                      <a:round/>
                      <a:headEnd type="none" w="med" len="med"/>
                      <a:tailEnd type="none" w="med" len="med"/>
                    </a:lnR>
                    <a:lnT w="12700" cap="flat" cmpd="sng" algn="ctr">
                      <a:solidFill>
                        <a:srgbClr val="D0E4F0"/>
                      </a:solidFill>
                      <a:prstDash val="solid"/>
                      <a:round/>
                      <a:headEnd type="none" w="med" len="med"/>
                      <a:tailEnd type="none" w="med" len="med"/>
                    </a:lnT>
                    <a:lnB w="12700" cap="flat" cmpd="sng" algn="ctr">
                      <a:solidFill>
                        <a:srgbClr val="D0E4F0"/>
                      </a:solidFill>
                      <a:prstDash val="solid"/>
                      <a:round/>
                      <a:headEnd type="none" w="med" len="med"/>
                      <a:tailEnd type="none" w="med" len="med"/>
                    </a:lnB>
                    <a:solidFill>
                      <a:srgbClr val="FFFFFF"/>
                    </a:solidFill>
                  </a:tcPr>
                </a:tc>
              </a:tr>
            </a:tbl>
          </a:graphicData>
        </a:graphic>
      </p:graphicFrame>
      <p:sp>
        <p:nvSpPr>
          <p:cNvPr id="10" name="Text 7"/>
          <p:cNvSpPr/>
          <p:nvPr/>
        </p:nvSpPr>
        <p:spPr>
          <a:xfrm>
            <a:off x="411480" y="4526280"/>
            <a:ext cx="8321040" cy="347472"/>
          </a:xfrm>
          <a:prstGeom prst="rect">
            <a:avLst/>
          </a:prstGeom>
          <a:solidFill>
            <a:srgbClr val="EAF5FC"/>
          </a:solidFill>
          <a:ln/>
        </p:spPr>
        <p:txBody>
          <a:bodyPr wrap="square" rtlCol="0" anchor="ctr"/>
          <a:lstStyle/>
          <a:p>
            <a:pPr indent="0" marL="0">
              <a:buNone/>
            </a:pPr>
            <a:r>
              <a:rPr lang="en-US" sz="1050" dirty="0">
                <a:solidFill>
                  <a:srgbClr val="0096C7"/>
                </a:solidFill>
                <a:latin typeface="Courier New" pitchFamily="34" charset="0"/>
                <a:ea typeface="Courier New" pitchFamily="34" charset="-122"/>
                <a:cs typeface="Courier New" pitchFamily="34" charset="-120"/>
              </a:rPr>
              <a:t>In Java, set isolation level via: conn.setTransactionIsolation(Connection.TRANSACTION_SERIALIZABLE)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411480" y="0"/>
            <a:ext cx="8321040" cy="658368"/>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Durability</a:t>
            </a:r>
            <a:endParaRPr lang="en-US" sz="2200" dirty="0"/>
          </a:p>
        </p:txBody>
      </p:sp>
      <p:sp>
        <p:nvSpPr>
          <p:cNvPr id="4" name="Shape 2"/>
          <p:cNvSpPr/>
          <p:nvPr/>
        </p:nvSpPr>
        <p:spPr>
          <a:xfrm>
            <a:off x="91440" y="201168"/>
            <a:ext cx="256032" cy="256032"/>
          </a:xfrm>
          <a:prstGeom prst="ellipse">
            <a:avLst/>
          </a:prstGeom>
          <a:solidFill>
            <a:srgbClr val="0096C7"/>
          </a:solidFill>
          <a:ln w="12700">
            <a:solidFill>
              <a:srgbClr val="0096C7"/>
            </a:solidFill>
            <a:prstDash val="solid"/>
          </a:ln>
        </p:spPr>
      </p:sp>
      <p:sp>
        <p:nvSpPr>
          <p:cNvPr id="5" name="Shape 3"/>
          <p:cNvSpPr/>
          <p:nvPr/>
        </p:nvSpPr>
        <p:spPr>
          <a:xfrm>
            <a:off x="411480" y="822960"/>
            <a:ext cx="438912" cy="438912"/>
          </a:xfrm>
          <a:prstGeom prst="ellipse">
            <a:avLst/>
          </a:prstGeom>
          <a:solidFill>
            <a:srgbClr val="E05252"/>
          </a:solidFill>
          <a:ln w="12700">
            <a:solidFill>
              <a:srgbClr val="E05252"/>
            </a:solidFill>
            <a:prstDash val="solid"/>
          </a:ln>
        </p:spPr>
      </p:sp>
      <p:sp>
        <p:nvSpPr>
          <p:cNvPr id="6" name="Text 4"/>
          <p:cNvSpPr/>
          <p:nvPr/>
        </p:nvSpPr>
        <p:spPr>
          <a:xfrm>
            <a:off x="411480" y="822960"/>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7" name="Text 5"/>
          <p:cNvSpPr/>
          <p:nvPr/>
        </p:nvSpPr>
        <p:spPr>
          <a:xfrm>
            <a:off x="932688" y="841248"/>
            <a:ext cx="7772400" cy="402336"/>
          </a:xfrm>
          <a:prstGeom prst="rect">
            <a:avLst/>
          </a:prstGeom>
          <a:noFill/>
          <a:ln/>
        </p:spPr>
        <p:txBody>
          <a:bodyPr wrap="square" rtlCol="0" anchor="ctr"/>
          <a:lstStyle/>
          <a:p>
            <a:pPr indent="0" marL="0">
              <a:buNone/>
            </a:pPr>
            <a:r>
              <a:rPr lang="en-US" sz="1300" dirty="0">
                <a:solidFill>
                  <a:srgbClr val="1A2B4A"/>
                </a:solidFill>
                <a:latin typeface="Calibri" pitchFamily="34" charset="0"/>
                <a:ea typeface="Calibri" pitchFamily="34" charset="-122"/>
                <a:cs typeface="Calibri" pitchFamily="34" charset="-120"/>
              </a:rPr>
              <a:t>Once a transaction is committed, its changes are permanent — even if the system crashes immediately after.</a:t>
            </a:r>
            <a:endParaRPr lang="en-US" sz="1300" dirty="0"/>
          </a:p>
        </p:txBody>
      </p:sp>
      <p:sp>
        <p:nvSpPr>
          <p:cNvPr id="8" name="Shape 6"/>
          <p:cNvSpPr/>
          <p:nvPr/>
        </p:nvSpPr>
        <p:spPr>
          <a:xfrm>
            <a:off x="365760" y="1417320"/>
            <a:ext cx="2743200" cy="3337560"/>
          </a:xfrm>
          <a:prstGeom prst="roundRect">
            <a:avLst>
              <a:gd name="adj" fmla="val 4000"/>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9" name="Shape 7"/>
          <p:cNvSpPr/>
          <p:nvPr/>
        </p:nvSpPr>
        <p:spPr>
          <a:xfrm>
            <a:off x="1508760" y="1572768"/>
            <a:ext cx="640080" cy="640080"/>
          </a:xfrm>
          <a:prstGeom prst="ellipse">
            <a:avLst/>
          </a:prstGeom>
          <a:solidFill>
            <a:srgbClr val="0096C7">
              <a:alpha val="85000"/>
            </a:srgbClr>
          </a:solidFill>
          <a:ln w="12700">
            <a:solidFill>
              <a:srgbClr val="0096C7"/>
            </a:solidFill>
            <a:prstDash val="solid"/>
          </a:ln>
        </p:spPr>
      </p:sp>
      <p:sp>
        <p:nvSpPr>
          <p:cNvPr id="10" name="Text 8"/>
          <p:cNvSpPr/>
          <p:nvPr/>
        </p:nvSpPr>
        <p:spPr>
          <a:xfrm>
            <a:off x="1508760" y="1572768"/>
            <a:ext cx="640080" cy="640080"/>
          </a:xfrm>
          <a:prstGeom prst="rect">
            <a:avLst/>
          </a:prstGeom>
          <a:noFill/>
          <a:ln/>
        </p:spPr>
        <p:txBody>
          <a:bodyPr wrap="square" rtlCol="0" anchor="ctr"/>
          <a:lstStyle/>
          <a:p>
            <a:pPr algn="ctr" indent="0" marL="0">
              <a:buNone/>
            </a:pPr>
            <a:r>
              <a:rPr lang="en-US" sz="1800" dirty="0">
                <a:solidFill>
                  <a:srgbClr val="FFFFFF"/>
                </a:solidFill>
              </a:rPr>
              <a:t>💾</a:t>
            </a:r>
            <a:endParaRPr lang="en-US" sz="1800" dirty="0"/>
          </a:p>
        </p:txBody>
      </p:sp>
      <p:sp>
        <p:nvSpPr>
          <p:cNvPr id="11" name="Text 9"/>
          <p:cNvSpPr/>
          <p:nvPr/>
        </p:nvSpPr>
        <p:spPr>
          <a:xfrm>
            <a:off x="502920" y="2304288"/>
            <a:ext cx="2468880" cy="502920"/>
          </a:xfrm>
          <a:prstGeom prst="rect">
            <a:avLst/>
          </a:prstGeom>
          <a:noFill/>
          <a:ln/>
        </p:spPr>
        <p:txBody>
          <a:bodyPr wrap="square" rtlCol="0" anchor="ctr"/>
          <a:lstStyle/>
          <a:p>
            <a:pPr algn="ctr" indent="0" marL="0">
              <a:buNone/>
            </a:pPr>
            <a:r>
              <a:rPr lang="en-US" sz="1200" b="1" dirty="0">
                <a:solidFill>
                  <a:srgbClr val="0096C7"/>
                </a:solidFill>
                <a:latin typeface="Calibri" pitchFamily="34" charset="0"/>
                <a:ea typeface="Calibri" pitchFamily="34" charset="-122"/>
                <a:cs typeface="Calibri" pitchFamily="34" charset="-120"/>
              </a:rPr>
              <a:t>Write-Ahead Logging (WAL)</a:t>
            </a:r>
            <a:endParaRPr lang="en-US" sz="1200" dirty="0"/>
          </a:p>
        </p:txBody>
      </p:sp>
      <p:sp>
        <p:nvSpPr>
          <p:cNvPr id="12" name="Text 10"/>
          <p:cNvSpPr/>
          <p:nvPr/>
        </p:nvSpPr>
        <p:spPr>
          <a:xfrm>
            <a:off x="502920" y="2852928"/>
            <a:ext cx="2468880" cy="1737360"/>
          </a:xfrm>
          <a:prstGeom prst="rect">
            <a:avLst/>
          </a:prstGeom>
          <a:noFill/>
          <a:ln/>
        </p:spPr>
        <p:txBody>
          <a:bodyPr wrap="square" rtlCol="0" anchor="ctr"/>
          <a:lstStyle/>
          <a:p>
            <a:pPr algn="l" indent="0" marL="0">
              <a:buNone/>
            </a:pPr>
            <a:r>
              <a:rPr lang="en-US" sz="1050" dirty="0">
                <a:solidFill>
                  <a:srgbClr val="1A2B4A"/>
                </a:solidFill>
                <a:latin typeface="Calibri" pitchFamily="34" charset="0"/>
                <a:ea typeface="Calibri" pitchFamily="34" charset="-122"/>
                <a:cs typeface="Calibri" pitchFamily="34" charset="-120"/>
              </a:rPr>
              <a:t>Every change is first written to a persistent log on disk BEFORE modifying the actual database. On recovery, the log is replayed to restore committed transactions. This is the most widely used durability mechanism.</a:t>
            </a:r>
            <a:endParaRPr lang="en-US" sz="1050" dirty="0"/>
          </a:p>
        </p:txBody>
      </p:sp>
      <p:sp>
        <p:nvSpPr>
          <p:cNvPr id="13" name="Shape 11"/>
          <p:cNvSpPr/>
          <p:nvPr/>
        </p:nvSpPr>
        <p:spPr>
          <a:xfrm>
            <a:off x="3291840" y="1417320"/>
            <a:ext cx="2743200" cy="3337560"/>
          </a:xfrm>
          <a:prstGeom prst="roundRect">
            <a:avLst>
              <a:gd name="adj" fmla="val 4000"/>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14" name="Shape 12"/>
          <p:cNvSpPr/>
          <p:nvPr/>
        </p:nvSpPr>
        <p:spPr>
          <a:xfrm>
            <a:off x="4434840" y="1572768"/>
            <a:ext cx="640080" cy="640080"/>
          </a:xfrm>
          <a:prstGeom prst="ellipse">
            <a:avLst/>
          </a:prstGeom>
          <a:solidFill>
            <a:srgbClr val="02A896">
              <a:alpha val="85000"/>
            </a:srgbClr>
          </a:solidFill>
          <a:ln w="12700">
            <a:solidFill>
              <a:srgbClr val="02A896"/>
            </a:solidFill>
            <a:prstDash val="solid"/>
          </a:ln>
        </p:spPr>
      </p:sp>
      <p:sp>
        <p:nvSpPr>
          <p:cNvPr id="15" name="Text 13"/>
          <p:cNvSpPr/>
          <p:nvPr/>
        </p:nvSpPr>
        <p:spPr>
          <a:xfrm>
            <a:off x="4434840" y="1572768"/>
            <a:ext cx="640080" cy="640080"/>
          </a:xfrm>
          <a:prstGeom prst="rect">
            <a:avLst/>
          </a:prstGeom>
          <a:noFill/>
          <a:ln/>
        </p:spPr>
        <p:txBody>
          <a:bodyPr wrap="square" rtlCol="0" anchor="ctr"/>
          <a:lstStyle/>
          <a:p>
            <a:pPr algn="ctr" indent="0" marL="0">
              <a:buNone/>
            </a:pPr>
            <a:r>
              <a:rPr lang="en-US" sz="1800" dirty="0">
                <a:solidFill>
                  <a:srgbClr val="FFFFFF"/>
                </a:solidFill>
              </a:rPr>
              <a:t>📋</a:t>
            </a:r>
            <a:endParaRPr lang="en-US" sz="1800" dirty="0"/>
          </a:p>
        </p:txBody>
      </p:sp>
      <p:sp>
        <p:nvSpPr>
          <p:cNvPr id="16" name="Text 14"/>
          <p:cNvSpPr/>
          <p:nvPr/>
        </p:nvSpPr>
        <p:spPr>
          <a:xfrm>
            <a:off x="3429000" y="2304288"/>
            <a:ext cx="2468880" cy="502920"/>
          </a:xfrm>
          <a:prstGeom prst="rect">
            <a:avLst/>
          </a:prstGeom>
          <a:noFill/>
          <a:ln/>
        </p:spPr>
        <p:txBody>
          <a:bodyPr wrap="square" rtlCol="0" anchor="ctr"/>
          <a:lstStyle/>
          <a:p>
            <a:pPr algn="ctr" indent="0" marL="0">
              <a:buNone/>
            </a:pPr>
            <a:r>
              <a:rPr lang="en-US" sz="1200" b="1" dirty="0">
                <a:solidFill>
                  <a:srgbClr val="02A896"/>
                </a:solidFill>
                <a:latin typeface="Calibri" pitchFamily="34" charset="0"/>
                <a:ea typeface="Calibri" pitchFamily="34" charset="-122"/>
                <a:cs typeface="Calibri" pitchFamily="34" charset="-120"/>
              </a:rPr>
              <a:t>Database Checkpointing</a:t>
            </a:r>
            <a:endParaRPr lang="en-US" sz="1200" dirty="0"/>
          </a:p>
        </p:txBody>
      </p:sp>
      <p:sp>
        <p:nvSpPr>
          <p:cNvPr id="17" name="Text 15"/>
          <p:cNvSpPr/>
          <p:nvPr/>
        </p:nvSpPr>
        <p:spPr>
          <a:xfrm>
            <a:off x="3429000" y="2852928"/>
            <a:ext cx="2468880" cy="1737360"/>
          </a:xfrm>
          <a:prstGeom prst="rect">
            <a:avLst/>
          </a:prstGeom>
          <a:noFill/>
          <a:ln/>
        </p:spPr>
        <p:txBody>
          <a:bodyPr wrap="square" rtlCol="0" anchor="ctr"/>
          <a:lstStyle/>
          <a:p>
            <a:pPr algn="l" indent="0" marL="0">
              <a:buNone/>
            </a:pPr>
            <a:r>
              <a:rPr lang="en-US" sz="1050" dirty="0">
                <a:solidFill>
                  <a:srgbClr val="1A2B4A"/>
                </a:solidFill>
                <a:latin typeface="Calibri" pitchFamily="34" charset="0"/>
                <a:ea typeface="Calibri" pitchFamily="34" charset="-122"/>
                <a:cs typeface="Calibri" pitchFamily="34" charset="-120"/>
              </a:rPr>
              <a:t>The database periodically writes a checkpoint to disk, recording the current state of all committed transactions. On recovery, only transactions after the last checkpoint need to be replayed.</a:t>
            </a:r>
            <a:endParaRPr lang="en-US" sz="1050" dirty="0"/>
          </a:p>
        </p:txBody>
      </p:sp>
      <p:sp>
        <p:nvSpPr>
          <p:cNvPr id="18" name="Shape 16"/>
          <p:cNvSpPr/>
          <p:nvPr/>
        </p:nvSpPr>
        <p:spPr>
          <a:xfrm>
            <a:off x="6217920" y="1417320"/>
            <a:ext cx="2743200" cy="3337560"/>
          </a:xfrm>
          <a:prstGeom prst="roundRect">
            <a:avLst>
              <a:gd name="adj" fmla="val 4000"/>
            </a:avLst>
          </a:prstGeom>
          <a:solidFill>
            <a:srgbClr val="FFFF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19" name="Shape 17"/>
          <p:cNvSpPr/>
          <p:nvPr/>
        </p:nvSpPr>
        <p:spPr>
          <a:xfrm>
            <a:off x="7360920" y="1572768"/>
            <a:ext cx="640080" cy="640080"/>
          </a:xfrm>
          <a:prstGeom prst="ellipse">
            <a:avLst/>
          </a:prstGeom>
          <a:solidFill>
            <a:srgbClr val="F5A623">
              <a:alpha val="85000"/>
            </a:srgbClr>
          </a:solidFill>
          <a:ln w="12700">
            <a:solidFill>
              <a:srgbClr val="F5A623"/>
            </a:solidFill>
            <a:prstDash val="solid"/>
          </a:ln>
        </p:spPr>
      </p:sp>
      <p:sp>
        <p:nvSpPr>
          <p:cNvPr id="20" name="Text 18"/>
          <p:cNvSpPr/>
          <p:nvPr/>
        </p:nvSpPr>
        <p:spPr>
          <a:xfrm>
            <a:off x="7360920" y="1572768"/>
            <a:ext cx="640080" cy="640080"/>
          </a:xfrm>
          <a:prstGeom prst="rect">
            <a:avLst/>
          </a:prstGeom>
          <a:noFill/>
          <a:ln/>
        </p:spPr>
        <p:txBody>
          <a:bodyPr wrap="square" rtlCol="0" anchor="ctr"/>
          <a:lstStyle/>
          <a:p>
            <a:pPr algn="ctr" indent="0" marL="0">
              <a:buNone/>
            </a:pPr>
            <a:r>
              <a:rPr lang="en-US" sz="1800" dirty="0">
                <a:solidFill>
                  <a:srgbClr val="FFFFFF"/>
                </a:solidFill>
              </a:rPr>
              <a:t>🔒</a:t>
            </a:r>
            <a:endParaRPr lang="en-US" sz="1800" dirty="0"/>
          </a:p>
        </p:txBody>
      </p:sp>
      <p:sp>
        <p:nvSpPr>
          <p:cNvPr id="21" name="Text 19"/>
          <p:cNvSpPr/>
          <p:nvPr/>
        </p:nvSpPr>
        <p:spPr>
          <a:xfrm>
            <a:off x="6355080" y="2304288"/>
            <a:ext cx="2468880" cy="502920"/>
          </a:xfrm>
          <a:prstGeom prst="rect">
            <a:avLst/>
          </a:prstGeom>
          <a:noFill/>
          <a:ln/>
        </p:spPr>
        <p:txBody>
          <a:bodyPr wrap="square"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Redundant Storage</a:t>
            </a:r>
            <a:endParaRPr lang="en-US" sz="1200" dirty="0"/>
          </a:p>
        </p:txBody>
      </p:sp>
      <p:sp>
        <p:nvSpPr>
          <p:cNvPr id="22" name="Text 20"/>
          <p:cNvSpPr/>
          <p:nvPr/>
        </p:nvSpPr>
        <p:spPr>
          <a:xfrm>
            <a:off x="6355080" y="2852928"/>
            <a:ext cx="2468880" cy="1737360"/>
          </a:xfrm>
          <a:prstGeom prst="rect">
            <a:avLst/>
          </a:prstGeom>
          <a:noFill/>
          <a:ln/>
        </p:spPr>
        <p:txBody>
          <a:bodyPr wrap="square" rtlCol="0" anchor="ctr"/>
          <a:lstStyle/>
          <a:p>
            <a:pPr algn="l" indent="0" marL="0">
              <a:buNone/>
            </a:pPr>
            <a:r>
              <a:rPr lang="en-US" sz="1050" dirty="0">
                <a:solidFill>
                  <a:srgbClr val="1A2B4A"/>
                </a:solidFill>
                <a:latin typeface="Calibri" pitchFamily="34" charset="0"/>
                <a:ea typeface="Calibri" pitchFamily="34" charset="-122"/>
                <a:cs typeface="Calibri" pitchFamily="34" charset="-120"/>
              </a:rPr>
              <a:t>Critical databases use RAID arrays, replication, or cloud backups to ensure durability even against hardware failure. Committed data is written to multiple physical locations.</a:t>
            </a:r>
            <a:endParaRPr lang="en-US" sz="1050" dirty="0"/>
          </a:p>
        </p:txBody>
      </p:sp>
      <p:sp>
        <p:nvSpPr>
          <p:cNvPr id="23" name="Text 21"/>
          <p:cNvSpPr/>
          <p:nvPr/>
        </p:nvSpPr>
        <p:spPr>
          <a:xfrm>
            <a:off x="365760" y="4846320"/>
            <a:ext cx="8412480" cy="256032"/>
          </a:xfrm>
          <a:prstGeom prst="rect">
            <a:avLst/>
          </a:prstGeom>
          <a:noFill/>
          <a:ln/>
        </p:spPr>
        <p:txBody>
          <a:bodyPr wrap="square" rtlCol="0" anchor="ctr"/>
          <a:lstStyle/>
          <a:p>
            <a:pPr indent="0" marL="0">
              <a:buNone/>
            </a:pPr>
            <a:r>
              <a:rPr lang="en-US" sz="900" i="1" dirty="0">
                <a:solidFill>
                  <a:srgbClr val="A0B0BF"/>
                </a:solidFill>
                <a:latin typeface="Calibri" pitchFamily="34" charset="0"/>
                <a:ea typeface="Calibri" pitchFamily="34" charset="-122"/>
                <a:cs typeface="Calibri" pitchFamily="34" charset="-120"/>
              </a:rPr>
              <a:t>Source: Oracle Docs — Transactions and Durability; IBM Db2 documentation on Write-Ahead Logging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658368"/>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Transaction Management in Java</a:t>
            </a:r>
            <a:endParaRPr lang="en-US" sz="3000" dirty="0"/>
          </a:p>
        </p:txBody>
      </p:sp>
      <p:sp>
        <p:nvSpPr>
          <p:cNvPr id="3" name="Text 1"/>
          <p:cNvSpPr/>
          <p:nvPr/>
        </p:nvSpPr>
        <p:spPr>
          <a:xfrm>
            <a:off x="457200" y="804672"/>
            <a:ext cx="8229600" cy="347472"/>
          </a:xfrm>
          <a:prstGeom prst="rect">
            <a:avLst/>
          </a:prstGeom>
          <a:noFill/>
          <a:ln/>
        </p:spPr>
        <p:txBody>
          <a:bodyPr wrap="square" rtlCol="0" anchor="ctr"/>
          <a:lstStyle/>
          <a:p>
            <a:pPr indent="0" marL="0">
              <a:buNone/>
            </a:pPr>
            <a:r>
              <a:rPr lang="en-US" sz="1400" i="1" dirty="0">
                <a:solidFill>
                  <a:srgbClr val="7FAFC5"/>
                </a:solidFill>
                <a:latin typeface="Calibri" pitchFamily="34" charset="0"/>
                <a:ea typeface="Calibri" pitchFamily="34" charset="-122"/>
                <a:cs typeface="Calibri" pitchFamily="34" charset="-120"/>
              </a:rPr>
              <a:t>Three primary approaches — choose based on your application stack</a:t>
            </a:r>
            <a:endParaRPr lang="en-US" sz="1400" dirty="0"/>
          </a:p>
        </p:txBody>
      </p:sp>
      <p:sp>
        <p:nvSpPr>
          <p:cNvPr id="4" name="Shape 2"/>
          <p:cNvSpPr/>
          <p:nvPr/>
        </p:nvSpPr>
        <p:spPr>
          <a:xfrm>
            <a:off x="347472" y="1261872"/>
            <a:ext cx="2788920" cy="3657600"/>
          </a:xfrm>
          <a:prstGeom prst="roundRect">
            <a:avLst>
              <a:gd name="adj" fmla="val 3934"/>
            </a:avLst>
          </a:prstGeom>
          <a:solidFill>
            <a:srgbClr val="0E2233"/>
          </a:solidFill>
          <a:ln w="25400">
            <a:solidFill>
              <a:srgbClr val="0096C7"/>
            </a:solidFill>
            <a:prstDash val="solid"/>
          </a:ln>
        </p:spPr>
      </p:sp>
      <p:sp>
        <p:nvSpPr>
          <p:cNvPr id="5" name="Shape 3"/>
          <p:cNvSpPr/>
          <p:nvPr/>
        </p:nvSpPr>
        <p:spPr>
          <a:xfrm>
            <a:off x="1508760" y="1417320"/>
            <a:ext cx="658368" cy="658368"/>
          </a:xfrm>
          <a:prstGeom prst="ellipse">
            <a:avLst/>
          </a:prstGeom>
          <a:solidFill>
            <a:srgbClr val="0096C7"/>
          </a:solidFill>
          <a:ln w="12700">
            <a:solidFill>
              <a:srgbClr val="0096C7"/>
            </a:solidFill>
            <a:prstDash val="solid"/>
          </a:ln>
        </p:spPr>
      </p:sp>
      <p:sp>
        <p:nvSpPr>
          <p:cNvPr id="6" name="Text 4"/>
          <p:cNvSpPr/>
          <p:nvPr/>
        </p:nvSpPr>
        <p:spPr>
          <a:xfrm>
            <a:off x="1508760" y="1417320"/>
            <a:ext cx="658368" cy="658368"/>
          </a:xfrm>
          <a:prstGeom prst="rect">
            <a:avLst/>
          </a:prstGeom>
          <a:noFill/>
          <a:ln/>
        </p:spPr>
        <p:txBody>
          <a:bodyPr wrap="square" rtlCol="0" anchor="ctr"/>
          <a:lstStyle/>
          <a:p>
            <a:pPr algn="ctr" indent="0" marL="0">
              <a:buNone/>
            </a:pPr>
            <a:r>
              <a:rPr lang="en-US" sz="2200" b="1" dirty="0">
                <a:solidFill>
                  <a:srgbClr val="0D1B2A"/>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475488" y="2176272"/>
            <a:ext cx="2542032" cy="640080"/>
          </a:xfrm>
          <a:prstGeom prst="rect">
            <a:avLst/>
          </a:prstGeom>
          <a:noFill/>
          <a:ln/>
        </p:spPr>
        <p:txBody>
          <a:bodyPr wrap="square" rtlCol="0" anchor="ctr"/>
          <a:lstStyle/>
          <a:p>
            <a:pPr algn="ctr" indent="0" marL="0">
              <a:buNone/>
            </a:pPr>
            <a:r>
              <a:rPr lang="en-US" sz="1250" b="1" dirty="0">
                <a:solidFill>
                  <a:srgbClr val="0096C7"/>
                </a:solidFill>
                <a:latin typeface="Calibri" pitchFamily="34" charset="0"/>
                <a:ea typeface="Calibri" pitchFamily="34" charset="-122"/>
                <a:cs typeface="Calibri" pitchFamily="34" charset="-120"/>
              </a:rPr>
              <a:t>JDBC</a:t>
            </a:r>
            <a:endParaRPr lang="en-US" sz="1250" dirty="0"/>
          </a:p>
          <a:p>
            <a:pPr algn="ctr" indent="0" marL="0">
              <a:buNone/>
            </a:pPr>
            <a:r>
              <a:rPr lang="en-US" sz="1250" b="1" dirty="0">
                <a:solidFill>
                  <a:srgbClr val="0096C7"/>
                </a:solidFill>
                <a:latin typeface="Calibri" pitchFamily="34" charset="0"/>
                <a:ea typeface="Calibri" pitchFamily="34" charset="-122"/>
                <a:cs typeface="Calibri" pitchFamily="34" charset="-120"/>
              </a:rPr>
              <a:t>(Java Database Connectivity)</a:t>
            </a:r>
            <a:endParaRPr lang="en-US" sz="1250" dirty="0"/>
          </a:p>
        </p:txBody>
      </p:sp>
      <p:sp>
        <p:nvSpPr>
          <p:cNvPr id="8" name="Text 6"/>
          <p:cNvSpPr/>
          <p:nvPr/>
        </p:nvSpPr>
        <p:spPr>
          <a:xfrm>
            <a:off x="475488" y="2907792"/>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Low-level, manual transaction control</a:t>
            </a:r>
            <a:endParaRPr lang="en-US" sz="1000" dirty="0"/>
          </a:p>
        </p:txBody>
      </p:sp>
      <p:sp>
        <p:nvSpPr>
          <p:cNvPr id="9" name="Text 7"/>
          <p:cNvSpPr/>
          <p:nvPr/>
        </p:nvSpPr>
        <p:spPr>
          <a:xfrm>
            <a:off x="475488" y="3255264"/>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Suitable for simple or legacy applications</a:t>
            </a:r>
            <a:endParaRPr lang="en-US" sz="1000" dirty="0"/>
          </a:p>
        </p:txBody>
      </p:sp>
      <p:sp>
        <p:nvSpPr>
          <p:cNvPr id="10" name="Text 8"/>
          <p:cNvSpPr/>
          <p:nvPr/>
        </p:nvSpPr>
        <p:spPr>
          <a:xfrm>
            <a:off x="475488" y="3602736"/>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Developer manages commit and rollback explicitly</a:t>
            </a:r>
            <a:endParaRPr lang="en-US" sz="1000" dirty="0"/>
          </a:p>
        </p:txBody>
      </p:sp>
      <p:sp>
        <p:nvSpPr>
          <p:cNvPr id="11" name="Text 9"/>
          <p:cNvSpPr/>
          <p:nvPr/>
        </p:nvSpPr>
        <p:spPr>
          <a:xfrm>
            <a:off x="475488" y="3950208"/>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Fine-grained control over database operations</a:t>
            </a:r>
            <a:endParaRPr lang="en-US" sz="1000" dirty="0"/>
          </a:p>
        </p:txBody>
      </p:sp>
      <p:sp>
        <p:nvSpPr>
          <p:cNvPr id="12" name="Shape 10"/>
          <p:cNvSpPr/>
          <p:nvPr/>
        </p:nvSpPr>
        <p:spPr>
          <a:xfrm>
            <a:off x="457200" y="4462272"/>
            <a:ext cx="2578608" cy="329184"/>
          </a:xfrm>
          <a:prstGeom prst="roundRect">
            <a:avLst>
              <a:gd name="adj" fmla="val 16667"/>
            </a:avLst>
          </a:prstGeom>
          <a:solidFill>
            <a:srgbClr val="0096C7">
              <a:alpha val="18000"/>
            </a:srgbClr>
          </a:solidFill>
          <a:ln w="12700">
            <a:solidFill>
              <a:srgbClr val="0096C7"/>
            </a:solidFill>
            <a:prstDash val="solid"/>
          </a:ln>
        </p:spPr>
      </p:sp>
      <p:sp>
        <p:nvSpPr>
          <p:cNvPr id="13" name="Text 11"/>
          <p:cNvSpPr/>
          <p:nvPr/>
        </p:nvSpPr>
        <p:spPr>
          <a:xfrm>
            <a:off x="457200" y="4462272"/>
            <a:ext cx="2578608" cy="329184"/>
          </a:xfrm>
          <a:prstGeom prst="rect">
            <a:avLst/>
          </a:prstGeom>
          <a:noFill/>
          <a:ln/>
        </p:spPr>
        <p:txBody>
          <a:bodyPr wrap="square" rtlCol="0" anchor="ctr"/>
          <a:lstStyle/>
          <a:p>
            <a:pPr algn="ctr" indent="0" marL="0">
              <a:buNone/>
            </a:pPr>
            <a:r>
              <a:rPr lang="en-US" sz="800" dirty="0">
                <a:solidFill>
                  <a:srgbClr val="0096C7"/>
                </a:solidFill>
                <a:latin typeface="Courier New" pitchFamily="34" charset="0"/>
                <a:ea typeface="Courier New" pitchFamily="34" charset="-122"/>
                <a:cs typeface="Courier New" pitchFamily="34" charset="-120"/>
              </a:rPr>
              <a:t>conn.setAutoCommit(false)</a:t>
            </a:r>
            <a:endParaRPr lang="en-US" sz="800" dirty="0"/>
          </a:p>
          <a:p>
            <a:pPr algn="ctr" indent="0" marL="0">
              <a:buNone/>
            </a:pPr>
            <a:r>
              <a:rPr lang="en-US" sz="800" dirty="0">
                <a:solidFill>
                  <a:srgbClr val="0096C7"/>
                </a:solidFill>
                <a:latin typeface="Courier New" pitchFamily="34" charset="0"/>
                <a:ea typeface="Courier New" pitchFamily="34" charset="-122"/>
                <a:cs typeface="Courier New" pitchFamily="34" charset="-120"/>
              </a:rPr>
              <a:t>conn.commit()</a:t>
            </a:r>
            <a:endParaRPr lang="en-US" sz="800" dirty="0"/>
          </a:p>
          <a:p>
            <a:pPr algn="ctr" indent="0" marL="0">
              <a:buNone/>
            </a:pPr>
            <a:r>
              <a:rPr lang="en-US" sz="800" dirty="0">
                <a:solidFill>
                  <a:srgbClr val="0096C7"/>
                </a:solidFill>
                <a:latin typeface="Courier New" pitchFamily="34" charset="0"/>
                <a:ea typeface="Courier New" pitchFamily="34" charset="-122"/>
                <a:cs typeface="Courier New" pitchFamily="34" charset="-120"/>
              </a:rPr>
              <a:t>conn.rollback()</a:t>
            </a:r>
            <a:endParaRPr lang="en-US" sz="800" dirty="0"/>
          </a:p>
        </p:txBody>
      </p:sp>
      <p:sp>
        <p:nvSpPr>
          <p:cNvPr id="14" name="Shape 12"/>
          <p:cNvSpPr/>
          <p:nvPr/>
        </p:nvSpPr>
        <p:spPr>
          <a:xfrm>
            <a:off x="3291840" y="1261872"/>
            <a:ext cx="2788920" cy="3657600"/>
          </a:xfrm>
          <a:prstGeom prst="roundRect">
            <a:avLst>
              <a:gd name="adj" fmla="val 3934"/>
            </a:avLst>
          </a:prstGeom>
          <a:solidFill>
            <a:srgbClr val="0E2233"/>
          </a:solidFill>
          <a:ln w="25400">
            <a:solidFill>
              <a:srgbClr val="02A896"/>
            </a:solidFill>
            <a:prstDash val="solid"/>
          </a:ln>
        </p:spPr>
      </p:sp>
      <p:sp>
        <p:nvSpPr>
          <p:cNvPr id="15" name="Shape 13"/>
          <p:cNvSpPr/>
          <p:nvPr/>
        </p:nvSpPr>
        <p:spPr>
          <a:xfrm>
            <a:off x="4453128" y="1417320"/>
            <a:ext cx="658368" cy="658368"/>
          </a:xfrm>
          <a:prstGeom prst="ellipse">
            <a:avLst/>
          </a:prstGeom>
          <a:solidFill>
            <a:srgbClr val="02A896"/>
          </a:solidFill>
          <a:ln w="12700">
            <a:solidFill>
              <a:srgbClr val="02A896"/>
            </a:solidFill>
            <a:prstDash val="solid"/>
          </a:ln>
        </p:spPr>
      </p:sp>
      <p:sp>
        <p:nvSpPr>
          <p:cNvPr id="16" name="Text 14"/>
          <p:cNvSpPr/>
          <p:nvPr/>
        </p:nvSpPr>
        <p:spPr>
          <a:xfrm>
            <a:off x="4453128" y="1417320"/>
            <a:ext cx="658368" cy="658368"/>
          </a:xfrm>
          <a:prstGeom prst="rect">
            <a:avLst/>
          </a:prstGeom>
          <a:noFill/>
          <a:ln/>
        </p:spPr>
        <p:txBody>
          <a:bodyPr wrap="square" rtlCol="0" anchor="ctr"/>
          <a:lstStyle/>
          <a:p>
            <a:pPr algn="ctr" indent="0" marL="0">
              <a:buNone/>
            </a:pPr>
            <a:r>
              <a:rPr lang="en-US" sz="2200" b="1" dirty="0">
                <a:solidFill>
                  <a:srgbClr val="0D1B2A"/>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3419856" y="2176272"/>
            <a:ext cx="2542032" cy="640080"/>
          </a:xfrm>
          <a:prstGeom prst="rect">
            <a:avLst/>
          </a:prstGeom>
          <a:noFill/>
          <a:ln/>
        </p:spPr>
        <p:txBody>
          <a:bodyPr wrap="square" rtlCol="0" anchor="ctr"/>
          <a:lstStyle/>
          <a:p>
            <a:pPr algn="ctr" indent="0" marL="0">
              <a:buNone/>
            </a:pPr>
            <a:r>
              <a:rPr lang="en-US" sz="1250" b="1" dirty="0">
                <a:solidFill>
                  <a:srgbClr val="02A896"/>
                </a:solidFill>
                <a:latin typeface="Calibri" pitchFamily="34" charset="0"/>
                <a:ea typeface="Calibri" pitchFamily="34" charset="-122"/>
                <a:cs typeface="Calibri" pitchFamily="34" charset="-120"/>
              </a:rPr>
              <a:t>JTA</a:t>
            </a:r>
            <a:endParaRPr lang="en-US" sz="1250" dirty="0"/>
          </a:p>
          <a:p>
            <a:pPr algn="ctr" indent="0" marL="0">
              <a:buNone/>
            </a:pPr>
            <a:r>
              <a:rPr lang="en-US" sz="1250" b="1" dirty="0">
                <a:solidFill>
                  <a:srgbClr val="02A896"/>
                </a:solidFill>
                <a:latin typeface="Calibri" pitchFamily="34" charset="0"/>
                <a:ea typeface="Calibri" pitchFamily="34" charset="-122"/>
                <a:cs typeface="Calibri" pitchFamily="34" charset="-120"/>
              </a:rPr>
              <a:t>(Java Transaction API)</a:t>
            </a:r>
            <a:endParaRPr lang="en-US" sz="1250" dirty="0"/>
          </a:p>
        </p:txBody>
      </p:sp>
      <p:sp>
        <p:nvSpPr>
          <p:cNvPr id="18" name="Text 16"/>
          <p:cNvSpPr/>
          <p:nvPr/>
        </p:nvSpPr>
        <p:spPr>
          <a:xfrm>
            <a:off x="3419856" y="2907792"/>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Standard Java EE API (javax.transaction)</a:t>
            </a:r>
            <a:endParaRPr lang="en-US" sz="1000" dirty="0"/>
          </a:p>
        </p:txBody>
      </p:sp>
      <p:sp>
        <p:nvSpPr>
          <p:cNvPr id="19" name="Text 17"/>
          <p:cNvSpPr/>
          <p:nvPr/>
        </p:nvSpPr>
        <p:spPr>
          <a:xfrm>
            <a:off x="3419856" y="3255264"/>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Supports distributed transactions across multiple resources</a:t>
            </a:r>
            <a:endParaRPr lang="en-US" sz="1000" dirty="0"/>
          </a:p>
        </p:txBody>
      </p:sp>
      <p:sp>
        <p:nvSpPr>
          <p:cNvPr id="20" name="Text 18"/>
          <p:cNvSpPr/>
          <p:nvPr/>
        </p:nvSpPr>
        <p:spPr>
          <a:xfrm>
            <a:off x="3419856" y="3602736"/>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Managed by application server (e.g. JBoss, WebLogic)</a:t>
            </a:r>
            <a:endParaRPr lang="en-US" sz="1000" dirty="0"/>
          </a:p>
        </p:txBody>
      </p:sp>
      <p:sp>
        <p:nvSpPr>
          <p:cNvPr id="21" name="Text 19"/>
          <p:cNvSpPr/>
          <p:nvPr/>
        </p:nvSpPr>
        <p:spPr>
          <a:xfrm>
            <a:off x="3419856" y="3950208"/>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Used in enterprise-scale systems</a:t>
            </a:r>
            <a:endParaRPr lang="en-US" sz="1000" dirty="0"/>
          </a:p>
        </p:txBody>
      </p:sp>
      <p:sp>
        <p:nvSpPr>
          <p:cNvPr id="22" name="Shape 20"/>
          <p:cNvSpPr/>
          <p:nvPr/>
        </p:nvSpPr>
        <p:spPr>
          <a:xfrm>
            <a:off x="3401568" y="4462272"/>
            <a:ext cx="2578608" cy="329184"/>
          </a:xfrm>
          <a:prstGeom prst="roundRect">
            <a:avLst>
              <a:gd name="adj" fmla="val 16667"/>
            </a:avLst>
          </a:prstGeom>
          <a:solidFill>
            <a:srgbClr val="02A896">
              <a:alpha val="18000"/>
            </a:srgbClr>
          </a:solidFill>
          <a:ln w="12700">
            <a:solidFill>
              <a:srgbClr val="02A896"/>
            </a:solidFill>
            <a:prstDash val="solid"/>
          </a:ln>
        </p:spPr>
      </p:sp>
      <p:sp>
        <p:nvSpPr>
          <p:cNvPr id="23" name="Text 21"/>
          <p:cNvSpPr/>
          <p:nvPr/>
        </p:nvSpPr>
        <p:spPr>
          <a:xfrm>
            <a:off x="3401568" y="4462272"/>
            <a:ext cx="2578608" cy="329184"/>
          </a:xfrm>
          <a:prstGeom prst="rect">
            <a:avLst/>
          </a:prstGeom>
          <a:noFill/>
          <a:ln/>
        </p:spPr>
        <p:txBody>
          <a:bodyPr wrap="square" rtlCol="0" anchor="ctr"/>
          <a:lstStyle/>
          <a:p>
            <a:pPr algn="ctr" indent="0" marL="0">
              <a:buNone/>
            </a:pPr>
            <a:r>
              <a:rPr lang="en-US" sz="800" dirty="0">
                <a:solidFill>
                  <a:srgbClr val="02A896"/>
                </a:solidFill>
                <a:latin typeface="Courier New" pitchFamily="34" charset="0"/>
                <a:ea typeface="Courier New" pitchFamily="34" charset="-122"/>
                <a:cs typeface="Courier New" pitchFamily="34" charset="-120"/>
              </a:rPr>
              <a:t>UserTransaction ut</a:t>
            </a:r>
            <a:endParaRPr lang="en-US" sz="800" dirty="0"/>
          </a:p>
          <a:p>
            <a:pPr algn="ctr" indent="0" marL="0">
              <a:buNone/>
            </a:pPr>
            <a:r>
              <a:rPr lang="en-US" sz="800" dirty="0">
                <a:solidFill>
                  <a:srgbClr val="02A896"/>
                </a:solidFill>
                <a:latin typeface="Courier New" pitchFamily="34" charset="0"/>
                <a:ea typeface="Courier New" pitchFamily="34" charset="-122"/>
                <a:cs typeface="Courier New" pitchFamily="34" charset="-120"/>
              </a:rPr>
              <a:t>ut.begin()</a:t>
            </a:r>
            <a:endParaRPr lang="en-US" sz="800" dirty="0"/>
          </a:p>
          <a:p>
            <a:pPr algn="ctr" indent="0" marL="0">
              <a:buNone/>
            </a:pPr>
            <a:r>
              <a:rPr lang="en-US" sz="800" dirty="0">
                <a:solidFill>
                  <a:srgbClr val="02A896"/>
                </a:solidFill>
                <a:latin typeface="Courier New" pitchFamily="34" charset="0"/>
                <a:ea typeface="Courier New" pitchFamily="34" charset="-122"/>
                <a:cs typeface="Courier New" pitchFamily="34" charset="-120"/>
              </a:rPr>
              <a:t>ut.commit()</a:t>
            </a:r>
            <a:endParaRPr lang="en-US" sz="800" dirty="0"/>
          </a:p>
        </p:txBody>
      </p:sp>
      <p:sp>
        <p:nvSpPr>
          <p:cNvPr id="24" name="Shape 22"/>
          <p:cNvSpPr/>
          <p:nvPr/>
        </p:nvSpPr>
        <p:spPr>
          <a:xfrm>
            <a:off x="6236208" y="1261872"/>
            <a:ext cx="2788920" cy="3657600"/>
          </a:xfrm>
          <a:prstGeom prst="roundRect">
            <a:avLst>
              <a:gd name="adj" fmla="val 3934"/>
            </a:avLst>
          </a:prstGeom>
          <a:solidFill>
            <a:srgbClr val="0E2233"/>
          </a:solidFill>
          <a:ln w="25400">
            <a:solidFill>
              <a:srgbClr val="F5A623"/>
            </a:solidFill>
            <a:prstDash val="solid"/>
          </a:ln>
        </p:spPr>
      </p:sp>
      <p:sp>
        <p:nvSpPr>
          <p:cNvPr id="25" name="Shape 23"/>
          <p:cNvSpPr/>
          <p:nvPr/>
        </p:nvSpPr>
        <p:spPr>
          <a:xfrm>
            <a:off x="7397496" y="1417320"/>
            <a:ext cx="658368" cy="658368"/>
          </a:xfrm>
          <a:prstGeom prst="ellipse">
            <a:avLst/>
          </a:prstGeom>
          <a:solidFill>
            <a:srgbClr val="F5A623"/>
          </a:solidFill>
          <a:ln w="12700">
            <a:solidFill>
              <a:srgbClr val="F5A623"/>
            </a:solidFill>
            <a:prstDash val="solid"/>
          </a:ln>
        </p:spPr>
      </p:sp>
      <p:sp>
        <p:nvSpPr>
          <p:cNvPr id="26" name="Text 24"/>
          <p:cNvSpPr/>
          <p:nvPr/>
        </p:nvSpPr>
        <p:spPr>
          <a:xfrm>
            <a:off x="7397496" y="1417320"/>
            <a:ext cx="658368" cy="658368"/>
          </a:xfrm>
          <a:prstGeom prst="rect">
            <a:avLst/>
          </a:prstGeom>
          <a:noFill/>
          <a:ln/>
        </p:spPr>
        <p:txBody>
          <a:bodyPr wrap="square" rtlCol="0" anchor="ctr"/>
          <a:lstStyle/>
          <a:p>
            <a:pPr algn="ctr" indent="0" marL="0">
              <a:buNone/>
            </a:pPr>
            <a:r>
              <a:rPr lang="en-US" sz="2200" b="1" dirty="0">
                <a:solidFill>
                  <a:srgbClr val="0D1B2A"/>
                </a:solidFill>
                <a:latin typeface="Calibri" pitchFamily="34" charset="0"/>
                <a:ea typeface="Calibri" pitchFamily="34" charset="-122"/>
                <a:cs typeface="Calibri" pitchFamily="34" charset="-120"/>
              </a:rPr>
              <a:t>3</a:t>
            </a:r>
            <a:endParaRPr lang="en-US" sz="2200" dirty="0"/>
          </a:p>
        </p:txBody>
      </p:sp>
      <p:sp>
        <p:nvSpPr>
          <p:cNvPr id="27" name="Text 25"/>
          <p:cNvSpPr/>
          <p:nvPr/>
        </p:nvSpPr>
        <p:spPr>
          <a:xfrm>
            <a:off x="6364224" y="2176272"/>
            <a:ext cx="2542032" cy="640080"/>
          </a:xfrm>
          <a:prstGeom prst="rect">
            <a:avLst/>
          </a:prstGeom>
          <a:noFill/>
          <a:ln/>
        </p:spPr>
        <p:txBody>
          <a:bodyPr wrap="square" rtlCol="0" anchor="ctr"/>
          <a:lstStyle/>
          <a:p>
            <a:pPr algn="ctr" indent="0" marL="0">
              <a:buNone/>
            </a:pPr>
            <a:r>
              <a:rPr lang="en-US" sz="1250" b="1" dirty="0">
                <a:solidFill>
                  <a:srgbClr val="F5A623"/>
                </a:solidFill>
                <a:latin typeface="Calibri" pitchFamily="34" charset="0"/>
                <a:ea typeface="Calibri" pitchFamily="34" charset="-122"/>
                <a:cs typeface="Calibri" pitchFamily="34" charset="-120"/>
              </a:rPr>
              <a:t>Spring Framework</a:t>
            </a:r>
            <a:endParaRPr lang="en-US" sz="1250" dirty="0"/>
          </a:p>
          <a:p>
            <a:pPr algn="ctr" indent="0" marL="0">
              <a:buNone/>
            </a:pPr>
            <a:r>
              <a:rPr lang="en-US" sz="1250" b="1" dirty="0">
                <a:solidFill>
                  <a:srgbClr val="F5A623"/>
                </a:solidFill>
                <a:latin typeface="Calibri" pitchFamily="34" charset="0"/>
                <a:ea typeface="Calibri" pitchFamily="34" charset="-122"/>
                <a:cs typeface="Calibri" pitchFamily="34" charset="-120"/>
              </a:rPr>
              <a:t>(@Transactional)</a:t>
            </a:r>
            <a:endParaRPr lang="en-US" sz="1250" dirty="0"/>
          </a:p>
        </p:txBody>
      </p:sp>
      <p:sp>
        <p:nvSpPr>
          <p:cNvPr id="28" name="Text 26"/>
          <p:cNvSpPr/>
          <p:nvPr/>
        </p:nvSpPr>
        <p:spPr>
          <a:xfrm>
            <a:off x="6364224" y="2907792"/>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Declarative transaction management with annotations</a:t>
            </a:r>
            <a:endParaRPr lang="en-US" sz="1000" dirty="0"/>
          </a:p>
        </p:txBody>
      </p:sp>
      <p:sp>
        <p:nvSpPr>
          <p:cNvPr id="29" name="Text 27"/>
          <p:cNvSpPr/>
          <p:nvPr/>
        </p:nvSpPr>
        <p:spPr>
          <a:xfrm>
            <a:off x="6364224" y="3255264"/>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Most popular approach in modern Java applications</a:t>
            </a:r>
            <a:endParaRPr lang="en-US" sz="1000" dirty="0"/>
          </a:p>
        </p:txBody>
      </p:sp>
      <p:sp>
        <p:nvSpPr>
          <p:cNvPr id="30" name="Text 28"/>
          <p:cNvSpPr/>
          <p:nvPr/>
        </p:nvSpPr>
        <p:spPr>
          <a:xfrm>
            <a:off x="6364224" y="3602736"/>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Works with JDBC, JPA, Hibernate transparently</a:t>
            </a:r>
            <a:endParaRPr lang="en-US" sz="1000" dirty="0"/>
          </a:p>
        </p:txBody>
      </p:sp>
      <p:sp>
        <p:nvSpPr>
          <p:cNvPr id="31" name="Text 29"/>
          <p:cNvSpPr/>
          <p:nvPr/>
        </p:nvSpPr>
        <p:spPr>
          <a:xfrm>
            <a:off x="6364224" y="3950208"/>
            <a:ext cx="2542032" cy="347472"/>
          </a:xfrm>
          <a:prstGeom prst="rect">
            <a:avLst/>
          </a:prstGeom>
          <a:noFill/>
          <a:ln/>
        </p:spPr>
        <p:txBody>
          <a:bodyPr wrap="square" rtlCol="0" anchor="ctr"/>
          <a:lstStyle/>
          <a:p>
            <a:pPr marL="342900" indent="-342900">
              <a:buSzPct val="100000"/>
              <a:buChar char="•"/>
            </a:pPr>
            <a:r>
              <a:rPr lang="en-US" sz="1000" dirty="0">
                <a:solidFill>
                  <a:srgbClr val="A8C8DC"/>
                </a:solidFill>
                <a:latin typeface="Calibri" pitchFamily="34" charset="0"/>
                <a:ea typeface="Calibri" pitchFamily="34" charset="-122"/>
                <a:cs typeface="Calibri" pitchFamily="34" charset="-120"/>
              </a:rPr>
              <a:t>Handles commit/rollback automatically</a:t>
            </a:r>
            <a:endParaRPr lang="en-US" sz="1000" dirty="0"/>
          </a:p>
        </p:txBody>
      </p:sp>
      <p:sp>
        <p:nvSpPr>
          <p:cNvPr id="32" name="Shape 30"/>
          <p:cNvSpPr/>
          <p:nvPr/>
        </p:nvSpPr>
        <p:spPr>
          <a:xfrm>
            <a:off x="6345936" y="4462272"/>
            <a:ext cx="2578608" cy="329184"/>
          </a:xfrm>
          <a:prstGeom prst="roundRect">
            <a:avLst>
              <a:gd name="adj" fmla="val 16667"/>
            </a:avLst>
          </a:prstGeom>
          <a:solidFill>
            <a:srgbClr val="F5A623">
              <a:alpha val="18000"/>
            </a:srgbClr>
          </a:solidFill>
          <a:ln w="12700">
            <a:solidFill>
              <a:srgbClr val="F5A623"/>
            </a:solidFill>
            <a:prstDash val="solid"/>
          </a:ln>
        </p:spPr>
      </p:sp>
      <p:sp>
        <p:nvSpPr>
          <p:cNvPr id="33" name="Text 31"/>
          <p:cNvSpPr/>
          <p:nvPr/>
        </p:nvSpPr>
        <p:spPr>
          <a:xfrm>
            <a:off x="6345936" y="4462272"/>
            <a:ext cx="2578608" cy="329184"/>
          </a:xfrm>
          <a:prstGeom prst="rect">
            <a:avLst/>
          </a:prstGeom>
          <a:noFill/>
          <a:ln/>
        </p:spPr>
        <p:txBody>
          <a:bodyPr wrap="square" rtlCol="0" anchor="ctr"/>
          <a:lstStyle/>
          <a:p>
            <a:pPr algn="ctr" indent="0" marL="0">
              <a:buNone/>
            </a:pPr>
            <a:r>
              <a:rPr lang="en-US" sz="800" dirty="0">
                <a:solidFill>
                  <a:srgbClr val="F5A623"/>
                </a:solidFill>
                <a:latin typeface="Courier New" pitchFamily="34" charset="0"/>
                <a:ea typeface="Courier New" pitchFamily="34" charset="-122"/>
                <a:cs typeface="Courier New" pitchFamily="34" charset="-120"/>
              </a:rPr>
              <a:t>@Transactional</a:t>
            </a:r>
            <a:endParaRPr lang="en-US" sz="800" dirty="0"/>
          </a:p>
          <a:p>
            <a:pPr algn="ctr" indent="0" marL="0">
              <a:buNone/>
            </a:pPr>
            <a:r>
              <a:rPr lang="en-US" sz="800" dirty="0">
                <a:solidFill>
                  <a:srgbClr val="F5A623"/>
                </a:solidFill>
                <a:latin typeface="Courier New" pitchFamily="34" charset="0"/>
                <a:ea typeface="Courier New" pitchFamily="34" charset="-122"/>
                <a:cs typeface="Courier New" pitchFamily="34" charset="-120"/>
              </a:rPr>
              <a:t>public void method() { }</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411480" y="0"/>
            <a:ext cx="8321040" cy="658368"/>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JDBC Transaction — Code Example</a:t>
            </a:r>
            <a:endParaRPr lang="en-US" sz="2200" dirty="0"/>
          </a:p>
        </p:txBody>
      </p:sp>
      <p:sp>
        <p:nvSpPr>
          <p:cNvPr id="4" name="Shape 2"/>
          <p:cNvSpPr/>
          <p:nvPr/>
        </p:nvSpPr>
        <p:spPr>
          <a:xfrm>
            <a:off x="91440" y="201168"/>
            <a:ext cx="256032" cy="256032"/>
          </a:xfrm>
          <a:prstGeom prst="ellipse">
            <a:avLst/>
          </a:prstGeom>
          <a:solidFill>
            <a:srgbClr val="0096C7"/>
          </a:solidFill>
          <a:ln w="12700">
            <a:solidFill>
              <a:srgbClr val="0096C7"/>
            </a:solidFill>
            <a:prstDash val="solid"/>
          </a:ln>
        </p:spPr>
      </p:sp>
      <p:sp>
        <p:nvSpPr>
          <p:cNvPr id="5" name="Shape 3"/>
          <p:cNvSpPr/>
          <p:nvPr/>
        </p:nvSpPr>
        <p:spPr>
          <a:xfrm>
            <a:off x="347472" y="822960"/>
            <a:ext cx="5029200" cy="4114800"/>
          </a:xfrm>
          <a:prstGeom prst="roundRect">
            <a:avLst>
              <a:gd name="adj" fmla="val 2667"/>
            </a:avLst>
          </a:prstGeom>
          <a:solidFill>
            <a:srgbClr val="0C1825"/>
          </a:solidFill>
          <a:ln w="12700">
            <a:solidFill>
              <a:srgbClr val="1C3D5A"/>
            </a:solidFill>
            <a:prstDash val="solid"/>
          </a:ln>
        </p:spPr>
      </p:sp>
      <p:sp>
        <p:nvSpPr>
          <p:cNvPr id="6" name="Text 4"/>
          <p:cNvSpPr/>
          <p:nvPr/>
        </p:nvSpPr>
        <p:spPr>
          <a:xfrm>
            <a:off x="502920" y="950976"/>
            <a:ext cx="4709160" cy="169164"/>
          </a:xfrm>
          <a:prstGeom prst="rect">
            <a:avLst/>
          </a:prstGeom>
          <a:noFill/>
          <a:ln/>
        </p:spPr>
        <p:txBody>
          <a:bodyPr wrap="square" rtlCol="0" anchor="ctr"/>
          <a:lstStyle/>
          <a:p>
            <a:pPr indent="0" marL="0">
              <a:buNone/>
            </a:pPr>
            <a:r>
              <a:rPr lang="en-US" sz="950" dirty="0">
                <a:solidFill>
                  <a:srgbClr val="0096C7"/>
                </a:solidFill>
                <a:latin typeface="Courier New" pitchFamily="34" charset="0"/>
                <a:ea typeface="Courier New" pitchFamily="34" charset="-122"/>
                <a:cs typeface="Courier New" pitchFamily="34" charset="-120"/>
              </a:rPr>
              <a:t>Connection</a:t>
            </a:r>
            <a:endParaRPr lang="en-US" sz="950" dirty="0"/>
          </a:p>
        </p:txBody>
      </p:sp>
      <p:sp>
        <p:nvSpPr>
          <p:cNvPr id="7" name="Text 5"/>
          <p:cNvSpPr/>
          <p:nvPr/>
        </p:nvSpPr>
        <p:spPr>
          <a:xfrm>
            <a:off x="502920" y="1120140"/>
            <a:ext cx="4709160" cy="169164"/>
          </a:xfrm>
          <a:prstGeom prst="rect">
            <a:avLst/>
          </a:prstGeom>
          <a:noFill/>
          <a:ln/>
        </p:spPr>
        <p:txBody>
          <a:bodyPr wrap="square" rtlCol="0" anchor="ctr"/>
          <a:lstStyle/>
          <a:p>
            <a:pPr indent="0" marL="0">
              <a:buNone/>
            </a:pPr>
            <a:r>
              <a:rPr lang="en-US" sz="950" b="1" dirty="0">
                <a:solidFill>
                  <a:srgbClr val="F5A623"/>
                </a:solidFill>
                <a:latin typeface="Courier New" pitchFamily="34" charset="0"/>
                <a:ea typeface="Courier New" pitchFamily="34" charset="-122"/>
                <a:cs typeface="Courier New" pitchFamily="34" charset="-120"/>
              </a:rPr>
              <a:t> conn = null;</a:t>
            </a:r>
            <a:endParaRPr lang="en-US" sz="950" dirty="0"/>
          </a:p>
        </p:txBody>
      </p:sp>
      <p:sp>
        <p:nvSpPr>
          <p:cNvPr id="8" name="Text 6"/>
          <p:cNvSpPr/>
          <p:nvPr/>
        </p:nvSpPr>
        <p:spPr>
          <a:xfrm>
            <a:off x="502920" y="1289304"/>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try {</a:t>
            </a:r>
            <a:endParaRPr lang="en-US" sz="950" dirty="0"/>
          </a:p>
        </p:txBody>
      </p:sp>
      <p:sp>
        <p:nvSpPr>
          <p:cNvPr id="9" name="Text 7"/>
          <p:cNvSpPr/>
          <p:nvPr/>
        </p:nvSpPr>
        <p:spPr>
          <a:xfrm>
            <a:off x="502920" y="1458468"/>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conn = DriverManager</a:t>
            </a:r>
            <a:endParaRPr lang="en-US" sz="950" dirty="0"/>
          </a:p>
        </p:txBody>
      </p:sp>
      <p:sp>
        <p:nvSpPr>
          <p:cNvPr id="10" name="Text 8"/>
          <p:cNvSpPr/>
          <p:nvPr/>
        </p:nvSpPr>
        <p:spPr>
          <a:xfrm>
            <a:off x="502920" y="1627632"/>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.getConnection(URL, USER, PASS);</a:t>
            </a:r>
            <a:endParaRPr lang="en-US" sz="950" dirty="0"/>
          </a:p>
        </p:txBody>
      </p:sp>
      <p:sp>
        <p:nvSpPr>
          <p:cNvPr id="11" name="Text 9"/>
          <p:cNvSpPr/>
          <p:nvPr/>
        </p:nvSpPr>
        <p:spPr>
          <a:xfrm>
            <a:off x="502920" y="1796796"/>
            <a:ext cx="4709160" cy="169164"/>
          </a:xfrm>
          <a:prstGeom prst="rect">
            <a:avLst/>
          </a:prstGeom>
          <a:noFill/>
          <a:ln/>
        </p:spPr>
        <p:txBody>
          <a:bodyPr wrap="square" rtlCol="0" anchor="ctr"/>
          <a:lstStyle/>
          <a:p>
            <a:pPr indent="0" marL="0">
              <a:buNone/>
            </a:pPr>
            <a:r>
              <a:rPr lang="en-US" sz="950" dirty="0">
                <a:solidFill>
                  <a:srgbClr val="5A8FA8"/>
                </a:solidFill>
                <a:latin typeface="Courier New" pitchFamily="34" charset="0"/>
                <a:ea typeface="Courier New" pitchFamily="34" charset="-122"/>
                <a:cs typeface="Courier New" pitchFamily="34" charset="-120"/>
              </a:rPr>
              <a:t>  // Disable auto-commit → start transaction</a:t>
            </a:r>
            <a:endParaRPr lang="en-US" sz="950" dirty="0"/>
          </a:p>
        </p:txBody>
      </p:sp>
      <p:sp>
        <p:nvSpPr>
          <p:cNvPr id="12" name="Text 10"/>
          <p:cNvSpPr/>
          <p:nvPr/>
        </p:nvSpPr>
        <p:spPr>
          <a:xfrm>
            <a:off x="502920" y="1965960"/>
            <a:ext cx="4709160" cy="169164"/>
          </a:xfrm>
          <a:prstGeom prst="rect">
            <a:avLst/>
          </a:prstGeom>
          <a:noFill/>
          <a:ln/>
        </p:spPr>
        <p:txBody>
          <a:bodyPr wrap="square" rtlCol="0" anchor="ctr"/>
          <a:lstStyle/>
          <a:p>
            <a:pPr indent="0" marL="0">
              <a:buNone/>
            </a:pPr>
            <a:r>
              <a:rPr lang="en-US" sz="950" b="1" dirty="0">
                <a:solidFill>
                  <a:srgbClr val="F5A623"/>
                </a:solidFill>
                <a:latin typeface="Courier New" pitchFamily="34" charset="0"/>
                <a:ea typeface="Courier New" pitchFamily="34" charset="-122"/>
                <a:cs typeface="Courier New" pitchFamily="34" charset="-120"/>
              </a:rPr>
              <a:t>  conn.setAutoCommit(false);</a:t>
            </a:r>
            <a:endParaRPr lang="en-US" sz="950" dirty="0"/>
          </a:p>
        </p:txBody>
      </p:sp>
      <p:sp>
        <p:nvSpPr>
          <p:cNvPr id="13" name="Text 11"/>
          <p:cNvSpPr/>
          <p:nvPr/>
        </p:nvSpPr>
        <p:spPr>
          <a:xfrm>
            <a:off x="502920" y="2135124"/>
            <a:ext cx="4709160" cy="169164"/>
          </a:xfrm>
          <a:prstGeom prst="rect">
            <a:avLst/>
          </a:prstGeom>
          <a:noFill/>
          <a:ln/>
        </p:spPr>
        <p:txBody>
          <a:bodyPr wrap="square" rtlCol="0" anchor="ctr"/>
          <a:lstStyle/>
          <a:p>
            <a:pPr indent="0" marL="0">
              <a:buNone/>
            </a:pPr>
            <a:endParaRPr lang="en-US" sz="950" dirty="0"/>
          </a:p>
        </p:txBody>
      </p:sp>
      <p:sp>
        <p:nvSpPr>
          <p:cNvPr id="14" name="Text 12"/>
          <p:cNvSpPr/>
          <p:nvPr/>
        </p:nvSpPr>
        <p:spPr>
          <a:xfrm>
            <a:off x="502920" y="2304288"/>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PreparedStatement debit = conn</a:t>
            </a:r>
            <a:endParaRPr lang="en-US" sz="950" dirty="0"/>
          </a:p>
        </p:txBody>
      </p:sp>
      <p:sp>
        <p:nvSpPr>
          <p:cNvPr id="15" name="Text 13"/>
          <p:cNvSpPr/>
          <p:nvPr/>
        </p:nvSpPr>
        <p:spPr>
          <a:xfrm>
            <a:off x="502920" y="2473452"/>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.prepareStatement("UPDATE accounts</a:t>
            </a:r>
            <a:endParaRPr lang="en-US" sz="950" dirty="0"/>
          </a:p>
        </p:txBody>
      </p:sp>
      <p:sp>
        <p:nvSpPr>
          <p:cNvPr id="16" name="Text 14"/>
          <p:cNvSpPr/>
          <p:nvPr/>
        </p:nvSpPr>
        <p:spPr>
          <a:xfrm>
            <a:off x="502920" y="2642616"/>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SET balance = balance - ? WHERE id=?");</a:t>
            </a:r>
            <a:endParaRPr lang="en-US" sz="950" dirty="0"/>
          </a:p>
        </p:txBody>
      </p:sp>
      <p:sp>
        <p:nvSpPr>
          <p:cNvPr id="17" name="Text 15"/>
          <p:cNvSpPr/>
          <p:nvPr/>
        </p:nvSpPr>
        <p:spPr>
          <a:xfrm>
            <a:off x="502920" y="2811780"/>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debit.setDouble(1, 500.00);</a:t>
            </a:r>
            <a:endParaRPr lang="en-US" sz="950" dirty="0"/>
          </a:p>
        </p:txBody>
      </p:sp>
      <p:sp>
        <p:nvSpPr>
          <p:cNvPr id="18" name="Text 16"/>
          <p:cNvSpPr/>
          <p:nvPr/>
        </p:nvSpPr>
        <p:spPr>
          <a:xfrm>
            <a:off x="502920" y="2980944"/>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debit.executeUpdate();</a:t>
            </a:r>
            <a:endParaRPr lang="en-US" sz="950" dirty="0"/>
          </a:p>
        </p:txBody>
      </p:sp>
      <p:sp>
        <p:nvSpPr>
          <p:cNvPr id="19" name="Text 17"/>
          <p:cNvSpPr/>
          <p:nvPr/>
        </p:nvSpPr>
        <p:spPr>
          <a:xfrm>
            <a:off x="502920" y="3150108"/>
            <a:ext cx="4709160" cy="169164"/>
          </a:xfrm>
          <a:prstGeom prst="rect">
            <a:avLst/>
          </a:prstGeom>
          <a:noFill/>
          <a:ln/>
        </p:spPr>
        <p:txBody>
          <a:bodyPr wrap="square" rtlCol="0" anchor="ctr"/>
          <a:lstStyle/>
          <a:p>
            <a:pPr indent="0" marL="0">
              <a:buNone/>
            </a:pPr>
            <a:endParaRPr lang="en-US" sz="950" dirty="0"/>
          </a:p>
        </p:txBody>
      </p:sp>
      <p:sp>
        <p:nvSpPr>
          <p:cNvPr id="20" name="Text 18"/>
          <p:cNvSpPr/>
          <p:nvPr/>
        </p:nvSpPr>
        <p:spPr>
          <a:xfrm>
            <a:off x="502920" y="3319272"/>
            <a:ext cx="4709160" cy="169164"/>
          </a:xfrm>
          <a:prstGeom prst="rect">
            <a:avLst/>
          </a:prstGeom>
          <a:noFill/>
          <a:ln/>
        </p:spPr>
        <p:txBody>
          <a:bodyPr wrap="square" rtlCol="0" anchor="ctr"/>
          <a:lstStyle/>
          <a:p>
            <a:pPr indent="0" marL="0">
              <a:buNone/>
            </a:pPr>
            <a:r>
              <a:rPr lang="en-US" sz="950" dirty="0">
                <a:solidFill>
                  <a:srgbClr val="5A8FA8"/>
                </a:solidFill>
                <a:latin typeface="Courier New" pitchFamily="34" charset="0"/>
                <a:ea typeface="Courier New" pitchFamily="34" charset="-122"/>
                <a:cs typeface="Courier New" pitchFamily="34" charset="-120"/>
              </a:rPr>
              <a:t>  // Similar for credit...</a:t>
            </a:r>
            <a:endParaRPr lang="en-US" sz="950" dirty="0"/>
          </a:p>
        </p:txBody>
      </p:sp>
      <p:sp>
        <p:nvSpPr>
          <p:cNvPr id="21" name="Text 19"/>
          <p:cNvSpPr/>
          <p:nvPr/>
        </p:nvSpPr>
        <p:spPr>
          <a:xfrm>
            <a:off x="502920" y="3488436"/>
            <a:ext cx="4709160" cy="169164"/>
          </a:xfrm>
          <a:prstGeom prst="rect">
            <a:avLst/>
          </a:prstGeom>
          <a:noFill/>
          <a:ln/>
        </p:spPr>
        <p:txBody>
          <a:bodyPr wrap="square" rtlCol="0" anchor="ctr"/>
          <a:lstStyle/>
          <a:p>
            <a:pPr indent="0" marL="0">
              <a:buNone/>
            </a:pPr>
            <a:endParaRPr lang="en-US" sz="950" dirty="0"/>
          </a:p>
        </p:txBody>
      </p:sp>
      <p:sp>
        <p:nvSpPr>
          <p:cNvPr id="22" name="Text 20"/>
          <p:cNvSpPr/>
          <p:nvPr/>
        </p:nvSpPr>
        <p:spPr>
          <a:xfrm>
            <a:off x="502920" y="3657600"/>
            <a:ext cx="4709160" cy="169164"/>
          </a:xfrm>
          <a:prstGeom prst="rect">
            <a:avLst/>
          </a:prstGeom>
          <a:noFill/>
          <a:ln/>
        </p:spPr>
        <p:txBody>
          <a:bodyPr wrap="square" rtlCol="0" anchor="ctr"/>
          <a:lstStyle/>
          <a:p>
            <a:pPr indent="0" marL="0">
              <a:buNone/>
            </a:pPr>
            <a:r>
              <a:rPr lang="en-US" sz="950" dirty="0">
                <a:solidFill>
                  <a:srgbClr val="02A896"/>
                </a:solidFill>
                <a:latin typeface="Courier New" pitchFamily="34" charset="0"/>
                <a:ea typeface="Courier New" pitchFamily="34" charset="-122"/>
                <a:cs typeface="Courier New" pitchFamily="34" charset="-120"/>
              </a:rPr>
              <a:t>  conn.commit();  // ✓ All succeeded</a:t>
            </a:r>
            <a:endParaRPr lang="en-US" sz="950" dirty="0"/>
          </a:p>
        </p:txBody>
      </p:sp>
      <p:sp>
        <p:nvSpPr>
          <p:cNvPr id="23" name="Text 21"/>
          <p:cNvSpPr/>
          <p:nvPr/>
        </p:nvSpPr>
        <p:spPr>
          <a:xfrm>
            <a:off x="502920" y="3826764"/>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catch (SQLException e) {</a:t>
            </a:r>
            <a:endParaRPr lang="en-US" sz="950" dirty="0"/>
          </a:p>
        </p:txBody>
      </p:sp>
      <p:sp>
        <p:nvSpPr>
          <p:cNvPr id="24" name="Text 22"/>
          <p:cNvSpPr/>
          <p:nvPr/>
        </p:nvSpPr>
        <p:spPr>
          <a:xfrm>
            <a:off x="502920" y="3995928"/>
            <a:ext cx="4709160" cy="169164"/>
          </a:xfrm>
          <a:prstGeom prst="rect">
            <a:avLst/>
          </a:prstGeom>
          <a:noFill/>
          <a:ln/>
        </p:spPr>
        <p:txBody>
          <a:bodyPr wrap="square" rtlCol="0" anchor="ctr"/>
          <a:lstStyle/>
          <a:p>
            <a:pPr indent="0" marL="0">
              <a:buNone/>
            </a:pPr>
            <a:r>
              <a:rPr lang="en-US" sz="950" dirty="0">
                <a:solidFill>
                  <a:srgbClr val="E05252"/>
                </a:solidFill>
                <a:latin typeface="Courier New" pitchFamily="34" charset="0"/>
                <a:ea typeface="Courier New" pitchFamily="34" charset="-122"/>
                <a:cs typeface="Courier New" pitchFamily="34" charset="-120"/>
              </a:rPr>
              <a:t>  conn.rollback(); // ✗ Undo everything</a:t>
            </a:r>
            <a:endParaRPr lang="en-US" sz="950" dirty="0"/>
          </a:p>
        </p:txBody>
      </p:sp>
      <p:sp>
        <p:nvSpPr>
          <p:cNvPr id="25" name="Text 23"/>
          <p:cNvSpPr/>
          <p:nvPr/>
        </p:nvSpPr>
        <p:spPr>
          <a:xfrm>
            <a:off x="502920" y="4165092"/>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finally {</a:t>
            </a:r>
            <a:endParaRPr lang="en-US" sz="950" dirty="0"/>
          </a:p>
        </p:txBody>
      </p:sp>
      <p:sp>
        <p:nvSpPr>
          <p:cNvPr id="26" name="Text 24"/>
          <p:cNvSpPr/>
          <p:nvPr/>
        </p:nvSpPr>
        <p:spPr>
          <a:xfrm>
            <a:off x="502920" y="4334256"/>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conn.close();</a:t>
            </a:r>
            <a:endParaRPr lang="en-US" sz="950" dirty="0"/>
          </a:p>
        </p:txBody>
      </p:sp>
      <p:sp>
        <p:nvSpPr>
          <p:cNvPr id="27" name="Text 25"/>
          <p:cNvSpPr/>
          <p:nvPr/>
        </p:nvSpPr>
        <p:spPr>
          <a:xfrm>
            <a:off x="502920" y="4503420"/>
            <a:ext cx="4709160" cy="169164"/>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a:t>
            </a:r>
            <a:endParaRPr lang="en-US" sz="950" dirty="0"/>
          </a:p>
        </p:txBody>
      </p:sp>
      <p:sp>
        <p:nvSpPr>
          <p:cNvPr id="28" name="Shape 26"/>
          <p:cNvSpPr/>
          <p:nvPr/>
        </p:nvSpPr>
        <p:spPr>
          <a:xfrm>
            <a:off x="5532120" y="822960"/>
            <a:ext cx="3246120" cy="749808"/>
          </a:xfrm>
          <a:prstGeom prst="roundRect">
            <a:avLst>
              <a:gd name="adj" fmla="val 9756"/>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29" name="Shape 27"/>
          <p:cNvSpPr/>
          <p:nvPr/>
        </p:nvSpPr>
        <p:spPr>
          <a:xfrm>
            <a:off x="5596128" y="841248"/>
            <a:ext cx="347472" cy="347472"/>
          </a:xfrm>
          <a:prstGeom prst="ellipse">
            <a:avLst/>
          </a:prstGeom>
          <a:solidFill>
            <a:srgbClr val="0096C7"/>
          </a:solidFill>
          <a:ln w="12700">
            <a:solidFill>
              <a:srgbClr val="0096C7"/>
            </a:solidFill>
            <a:prstDash val="solid"/>
          </a:ln>
        </p:spPr>
      </p:sp>
      <p:sp>
        <p:nvSpPr>
          <p:cNvPr id="30" name="Text 28"/>
          <p:cNvSpPr/>
          <p:nvPr/>
        </p:nvSpPr>
        <p:spPr>
          <a:xfrm>
            <a:off x="5596128" y="841248"/>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1</a:t>
            </a:r>
            <a:endParaRPr lang="en-US" sz="1300" dirty="0"/>
          </a:p>
        </p:txBody>
      </p:sp>
      <p:sp>
        <p:nvSpPr>
          <p:cNvPr id="31" name="Text 29"/>
          <p:cNvSpPr/>
          <p:nvPr/>
        </p:nvSpPr>
        <p:spPr>
          <a:xfrm>
            <a:off x="6016752" y="841248"/>
            <a:ext cx="2606040" cy="274320"/>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1. Get Connection</a:t>
            </a:r>
            <a:endParaRPr lang="en-US" sz="1150" dirty="0"/>
          </a:p>
        </p:txBody>
      </p:sp>
      <p:sp>
        <p:nvSpPr>
          <p:cNvPr id="32" name="Text 30"/>
          <p:cNvSpPr/>
          <p:nvPr/>
        </p:nvSpPr>
        <p:spPr>
          <a:xfrm>
            <a:off x="6016752" y="1115568"/>
            <a:ext cx="2606040" cy="420624"/>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Obtain a java.sql.Connection from DriverManager or a connection pool.</a:t>
            </a:r>
            <a:endParaRPr lang="en-US" sz="1000" dirty="0"/>
          </a:p>
        </p:txBody>
      </p:sp>
      <p:sp>
        <p:nvSpPr>
          <p:cNvPr id="33" name="Shape 31"/>
          <p:cNvSpPr/>
          <p:nvPr/>
        </p:nvSpPr>
        <p:spPr>
          <a:xfrm>
            <a:off x="5532120" y="1627632"/>
            <a:ext cx="3246120" cy="749808"/>
          </a:xfrm>
          <a:prstGeom prst="roundRect">
            <a:avLst>
              <a:gd name="adj" fmla="val 9756"/>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34" name="Shape 32"/>
          <p:cNvSpPr/>
          <p:nvPr/>
        </p:nvSpPr>
        <p:spPr>
          <a:xfrm>
            <a:off x="5596128" y="1645920"/>
            <a:ext cx="347472" cy="347472"/>
          </a:xfrm>
          <a:prstGeom prst="ellipse">
            <a:avLst/>
          </a:prstGeom>
          <a:solidFill>
            <a:srgbClr val="F5A623"/>
          </a:solidFill>
          <a:ln w="12700">
            <a:solidFill>
              <a:srgbClr val="F5A623"/>
            </a:solidFill>
            <a:prstDash val="solid"/>
          </a:ln>
        </p:spPr>
      </p:sp>
      <p:sp>
        <p:nvSpPr>
          <p:cNvPr id="35" name="Text 33"/>
          <p:cNvSpPr/>
          <p:nvPr/>
        </p:nvSpPr>
        <p:spPr>
          <a:xfrm>
            <a:off x="5596128" y="1645920"/>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2</a:t>
            </a:r>
            <a:endParaRPr lang="en-US" sz="1300" dirty="0"/>
          </a:p>
        </p:txBody>
      </p:sp>
      <p:sp>
        <p:nvSpPr>
          <p:cNvPr id="36" name="Text 34"/>
          <p:cNvSpPr/>
          <p:nvPr/>
        </p:nvSpPr>
        <p:spPr>
          <a:xfrm>
            <a:off x="6016752" y="1645920"/>
            <a:ext cx="2606040" cy="274320"/>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2. Disable AutoCommit</a:t>
            </a:r>
            <a:endParaRPr lang="en-US" sz="1150" dirty="0"/>
          </a:p>
        </p:txBody>
      </p:sp>
      <p:sp>
        <p:nvSpPr>
          <p:cNvPr id="37" name="Text 35"/>
          <p:cNvSpPr/>
          <p:nvPr/>
        </p:nvSpPr>
        <p:spPr>
          <a:xfrm>
            <a:off x="6016752" y="1920240"/>
            <a:ext cx="2606040" cy="420624"/>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Call setAutoCommit(false) to begin the transaction explicitly.</a:t>
            </a:r>
            <a:endParaRPr lang="en-US" sz="1000" dirty="0"/>
          </a:p>
        </p:txBody>
      </p:sp>
      <p:sp>
        <p:nvSpPr>
          <p:cNvPr id="38" name="Shape 36"/>
          <p:cNvSpPr/>
          <p:nvPr/>
        </p:nvSpPr>
        <p:spPr>
          <a:xfrm>
            <a:off x="5532120" y="2432304"/>
            <a:ext cx="3246120" cy="749808"/>
          </a:xfrm>
          <a:prstGeom prst="roundRect">
            <a:avLst>
              <a:gd name="adj" fmla="val 9756"/>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39" name="Shape 37"/>
          <p:cNvSpPr/>
          <p:nvPr/>
        </p:nvSpPr>
        <p:spPr>
          <a:xfrm>
            <a:off x="5596128" y="2450592"/>
            <a:ext cx="347472" cy="347472"/>
          </a:xfrm>
          <a:prstGeom prst="ellipse">
            <a:avLst/>
          </a:prstGeom>
          <a:solidFill>
            <a:srgbClr val="02A896"/>
          </a:solidFill>
          <a:ln w="12700">
            <a:solidFill>
              <a:srgbClr val="02A896"/>
            </a:solidFill>
            <a:prstDash val="solid"/>
          </a:ln>
        </p:spPr>
      </p:sp>
      <p:sp>
        <p:nvSpPr>
          <p:cNvPr id="40" name="Text 38"/>
          <p:cNvSpPr/>
          <p:nvPr/>
        </p:nvSpPr>
        <p:spPr>
          <a:xfrm>
            <a:off x="5596128" y="2450592"/>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3</a:t>
            </a:r>
            <a:endParaRPr lang="en-US" sz="1300" dirty="0"/>
          </a:p>
        </p:txBody>
      </p:sp>
      <p:sp>
        <p:nvSpPr>
          <p:cNvPr id="41" name="Text 39"/>
          <p:cNvSpPr/>
          <p:nvPr/>
        </p:nvSpPr>
        <p:spPr>
          <a:xfrm>
            <a:off x="6016752" y="2450592"/>
            <a:ext cx="2606040" cy="274320"/>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3. Execute Operations</a:t>
            </a:r>
            <a:endParaRPr lang="en-US" sz="1150" dirty="0"/>
          </a:p>
        </p:txBody>
      </p:sp>
      <p:sp>
        <p:nvSpPr>
          <p:cNvPr id="42" name="Text 40"/>
          <p:cNvSpPr/>
          <p:nvPr/>
        </p:nvSpPr>
        <p:spPr>
          <a:xfrm>
            <a:off x="6016752" y="2724912"/>
            <a:ext cx="2606040" cy="420624"/>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Run all SQL statements (INSERT, UPDATE, DELETE) as part of the transaction.</a:t>
            </a:r>
            <a:endParaRPr lang="en-US" sz="1000" dirty="0"/>
          </a:p>
        </p:txBody>
      </p:sp>
      <p:sp>
        <p:nvSpPr>
          <p:cNvPr id="43" name="Shape 41"/>
          <p:cNvSpPr/>
          <p:nvPr/>
        </p:nvSpPr>
        <p:spPr>
          <a:xfrm>
            <a:off x="5532120" y="3236976"/>
            <a:ext cx="3246120" cy="749808"/>
          </a:xfrm>
          <a:prstGeom prst="roundRect">
            <a:avLst>
              <a:gd name="adj" fmla="val 9756"/>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44" name="Shape 42"/>
          <p:cNvSpPr/>
          <p:nvPr/>
        </p:nvSpPr>
        <p:spPr>
          <a:xfrm>
            <a:off x="5596128" y="3255264"/>
            <a:ext cx="347472" cy="347472"/>
          </a:xfrm>
          <a:prstGeom prst="ellipse">
            <a:avLst/>
          </a:prstGeom>
          <a:solidFill>
            <a:srgbClr val="2E9E6E"/>
          </a:solidFill>
          <a:ln w="12700">
            <a:solidFill>
              <a:srgbClr val="2E9E6E"/>
            </a:solidFill>
            <a:prstDash val="solid"/>
          </a:ln>
        </p:spPr>
      </p:sp>
      <p:sp>
        <p:nvSpPr>
          <p:cNvPr id="45" name="Text 43"/>
          <p:cNvSpPr/>
          <p:nvPr/>
        </p:nvSpPr>
        <p:spPr>
          <a:xfrm>
            <a:off x="5596128" y="3255264"/>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4</a:t>
            </a:r>
            <a:endParaRPr lang="en-US" sz="1300" dirty="0"/>
          </a:p>
        </p:txBody>
      </p:sp>
      <p:sp>
        <p:nvSpPr>
          <p:cNvPr id="46" name="Text 44"/>
          <p:cNvSpPr/>
          <p:nvPr/>
        </p:nvSpPr>
        <p:spPr>
          <a:xfrm>
            <a:off x="6016752" y="3255264"/>
            <a:ext cx="2606040" cy="274320"/>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4. Commit or Rollback</a:t>
            </a:r>
            <a:endParaRPr lang="en-US" sz="1150" dirty="0"/>
          </a:p>
        </p:txBody>
      </p:sp>
      <p:sp>
        <p:nvSpPr>
          <p:cNvPr id="47" name="Text 45"/>
          <p:cNvSpPr/>
          <p:nvPr/>
        </p:nvSpPr>
        <p:spPr>
          <a:xfrm>
            <a:off x="6016752" y="3529584"/>
            <a:ext cx="2606040" cy="420624"/>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If all operations succeed → commit(). Any error → rollback() undoes everything.</a:t>
            </a:r>
            <a:endParaRPr lang="en-US" sz="1000" dirty="0"/>
          </a:p>
        </p:txBody>
      </p:sp>
      <p:sp>
        <p:nvSpPr>
          <p:cNvPr id="48" name="Shape 46"/>
          <p:cNvSpPr/>
          <p:nvPr/>
        </p:nvSpPr>
        <p:spPr>
          <a:xfrm>
            <a:off x="5532120" y="4041648"/>
            <a:ext cx="3246120" cy="749808"/>
          </a:xfrm>
          <a:prstGeom prst="roundRect">
            <a:avLst>
              <a:gd name="adj" fmla="val 9756"/>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49" name="Shape 47"/>
          <p:cNvSpPr/>
          <p:nvPr/>
        </p:nvSpPr>
        <p:spPr>
          <a:xfrm>
            <a:off x="5596128" y="4059936"/>
            <a:ext cx="347472" cy="347472"/>
          </a:xfrm>
          <a:prstGeom prst="ellipse">
            <a:avLst/>
          </a:prstGeom>
          <a:solidFill>
            <a:srgbClr val="4E6A80"/>
          </a:solidFill>
          <a:ln w="12700">
            <a:solidFill>
              <a:srgbClr val="4E6A80"/>
            </a:solidFill>
            <a:prstDash val="solid"/>
          </a:ln>
        </p:spPr>
      </p:sp>
      <p:sp>
        <p:nvSpPr>
          <p:cNvPr id="50" name="Text 48"/>
          <p:cNvSpPr/>
          <p:nvPr/>
        </p:nvSpPr>
        <p:spPr>
          <a:xfrm>
            <a:off x="5596128" y="4059936"/>
            <a:ext cx="347472" cy="347472"/>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5</a:t>
            </a:r>
            <a:endParaRPr lang="en-US" sz="1300" dirty="0"/>
          </a:p>
        </p:txBody>
      </p:sp>
      <p:sp>
        <p:nvSpPr>
          <p:cNvPr id="51" name="Text 49"/>
          <p:cNvSpPr/>
          <p:nvPr/>
        </p:nvSpPr>
        <p:spPr>
          <a:xfrm>
            <a:off x="6016752" y="4059936"/>
            <a:ext cx="2606040" cy="274320"/>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5. Release Resources</a:t>
            </a:r>
            <a:endParaRPr lang="en-US" sz="1150" dirty="0"/>
          </a:p>
        </p:txBody>
      </p:sp>
      <p:sp>
        <p:nvSpPr>
          <p:cNvPr id="52" name="Text 50"/>
          <p:cNvSpPr/>
          <p:nvPr/>
        </p:nvSpPr>
        <p:spPr>
          <a:xfrm>
            <a:off x="6016752" y="4334256"/>
            <a:ext cx="2606040" cy="420624"/>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Always close connections in a finally block to prevent resource leaks.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411480" y="0"/>
            <a:ext cx="8321040" cy="658368"/>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Spring Framework — @Transactional Annotation</a:t>
            </a:r>
            <a:endParaRPr lang="en-US" sz="2200" dirty="0"/>
          </a:p>
        </p:txBody>
      </p:sp>
      <p:sp>
        <p:nvSpPr>
          <p:cNvPr id="4" name="Shape 2"/>
          <p:cNvSpPr/>
          <p:nvPr/>
        </p:nvSpPr>
        <p:spPr>
          <a:xfrm>
            <a:off x="91440" y="201168"/>
            <a:ext cx="256032" cy="256032"/>
          </a:xfrm>
          <a:prstGeom prst="ellipse">
            <a:avLst/>
          </a:prstGeom>
          <a:solidFill>
            <a:srgbClr val="0096C7"/>
          </a:solidFill>
          <a:ln w="12700">
            <a:solidFill>
              <a:srgbClr val="0096C7"/>
            </a:solidFill>
            <a:prstDash val="solid"/>
          </a:ln>
        </p:spPr>
      </p:sp>
      <p:sp>
        <p:nvSpPr>
          <p:cNvPr id="5" name="Shape 3"/>
          <p:cNvSpPr/>
          <p:nvPr/>
        </p:nvSpPr>
        <p:spPr>
          <a:xfrm>
            <a:off x="347472" y="822960"/>
            <a:ext cx="5029200" cy="4114800"/>
          </a:xfrm>
          <a:prstGeom prst="roundRect">
            <a:avLst>
              <a:gd name="adj" fmla="val 2667"/>
            </a:avLst>
          </a:prstGeom>
          <a:solidFill>
            <a:srgbClr val="0C1825"/>
          </a:solidFill>
          <a:ln w="12700">
            <a:solidFill>
              <a:srgbClr val="1C3D5A"/>
            </a:solidFill>
            <a:prstDash val="solid"/>
          </a:ln>
        </p:spPr>
      </p:sp>
      <p:sp>
        <p:nvSpPr>
          <p:cNvPr id="6" name="Text 4"/>
          <p:cNvSpPr/>
          <p:nvPr/>
        </p:nvSpPr>
        <p:spPr>
          <a:xfrm>
            <a:off x="502920" y="932688"/>
            <a:ext cx="4709160" cy="162763"/>
          </a:xfrm>
          <a:prstGeom prst="rect">
            <a:avLst/>
          </a:prstGeom>
          <a:noFill/>
          <a:ln/>
        </p:spPr>
        <p:txBody>
          <a:bodyPr wrap="square" rtlCol="0" anchor="ctr"/>
          <a:lstStyle/>
          <a:p>
            <a:pPr indent="0" marL="0">
              <a:buNone/>
            </a:pPr>
            <a:r>
              <a:rPr lang="en-US" sz="950" dirty="0">
                <a:solidFill>
                  <a:srgbClr val="02A896"/>
                </a:solidFill>
                <a:latin typeface="Courier New" pitchFamily="34" charset="0"/>
                <a:ea typeface="Courier New" pitchFamily="34" charset="-122"/>
                <a:cs typeface="Courier New" pitchFamily="34" charset="-120"/>
              </a:rPr>
              <a:t>@Service</a:t>
            </a:r>
            <a:endParaRPr lang="en-US" sz="950" dirty="0"/>
          </a:p>
        </p:txBody>
      </p:sp>
      <p:sp>
        <p:nvSpPr>
          <p:cNvPr id="7" name="Text 5"/>
          <p:cNvSpPr/>
          <p:nvPr/>
        </p:nvSpPr>
        <p:spPr>
          <a:xfrm>
            <a:off x="502920" y="1095451"/>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public class BankService {</a:t>
            </a:r>
            <a:endParaRPr lang="en-US" sz="950" dirty="0"/>
          </a:p>
        </p:txBody>
      </p:sp>
      <p:sp>
        <p:nvSpPr>
          <p:cNvPr id="8" name="Text 6"/>
          <p:cNvSpPr/>
          <p:nvPr/>
        </p:nvSpPr>
        <p:spPr>
          <a:xfrm>
            <a:off x="502920" y="1258214"/>
            <a:ext cx="4709160" cy="162763"/>
          </a:xfrm>
          <a:prstGeom prst="rect">
            <a:avLst/>
          </a:prstGeom>
          <a:noFill/>
          <a:ln/>
        </p:spPr>
        <p:txBody>
          <a:bodyPr wrap="square" rtlCol="0" anchor="ctr"/>
          <a:lstStyle/>
          <a:p>
            <a:pPr indent="0" marL="0">
              <a:buNone/>
            </a:pPr>
            <a:endParaRPr lang="en-US" sz="950" dirty="0"/>
          </a:p>
        </p:txBody>
      </p:sp>
      <p:sp>
        <p:nvSpPr>
          <p:cNvPr id="9" name="Text 7"/>
          <p:cNvSpPr/>
          <p:nvPr/>
        </p:nvSpPr>
        <p:spPr>
          <a:xfrm>
            <a:off x="502920" y="1420978"/>
            <a:ext cx="4709160" cy="162763"/>
          </a:xfrm>
          <a:prstGeom prst="rect">
            <a:avLst/>
          </a:prstGeom>
          <a:noFill/>
          <a:ln/>
        </p:spPr>
        <p:txBody>
          <a:bodyPr wrap="square" rtlCol="0" anchor="ctr"/>
          <a:lstStyle/>
          <a:p>
            <a:pPr indent="0" marL="0">
              <a:buNone/>
            </a:pPr>
            <a:r>
              <a:rPr lang="en-US" sz="950" dirty="0">
                <a:solidFill>
                  <a:srgbClr val="02A896"/>
                </a:solidFill>
                <a:latin typeface="Courier New" pitchFamily="34" charset="0"/>
                <a:ea typeface="Courier New" pitchFamily="34" charset="-122"/>
                <a:cs typeface="Courier New" pitchFamily="34" charset="-120"/>
              </a:rPr>
              <a:t>  @Autowired</a:t>
            </a:r>
            <a:endParaRPr lang="en-US" sz="950" dirty="0"/>
          </a:p>
        </p:txBody>
      </p:sp>
      <p:sp>
        <p:nvSpPr>
          <p:cNvPr id="10" name="Text 8"/>
          <p:cNvSpPr/>
          <p:nvPr/>
        </p:nvSpPr>
        <p:spPr>
          <a:xfrm>
            <a:off x="502920" y="1583741"/>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private AccountRepository repo;</a:t>
            </a:r>
            <a:endParaRPr lang="en-US" sz="950" dirty="0"/>
          </a:p>
        </p:txBody>
      </p:sp>
      <p:sp>
        <p:nvSpPr>
          <p:cNvPr id="11" name="Text 9"/>
          <p:cNvSpPr/>
          <p:nvPr/>
        </p:nvSpPr>
        <p:spPr>
          <a:xfrm>
            <a:off x="502920" y="1746504"/>
            <a:ext cx="4709160" cy="162763"/>
          </a:xfrm>
          <a:prstGeom prst="rect">
            <a:avLst/>
          </a:prstGeom>
          <a:noFill/>
          <a:ln/>
        </p:spPr>
        <p:txBody>
          <a:bodyPr wrap="square" rtlCol="0" anchor="ctr"/>
          <a:lstStyle/>
          <a:p>
            <a:pPr indent="0" marL="0">
              <a:buNone/>
            </a:pPr>
            <a:endParaRPr lang="en-US" sz="950" dirty="0"/>
          </a:p>
        </p:txBody>
      </p:sp>
      <p:sp>
        <p:nvSpPr>
          <p:cNvPr id="12" name="Text 10"/>
          <p:cNvSpPr/>
          <p:nvPr/>
        </p:nvSpPr>
        <p:spPr>
          <a:xfrm>
            <a:off x="502920" y="1909267"/>
            <a:ext cx="4709160" cy="162763"/>
          </a:xfrm>
          <a:prstGeom prst="rect">
            <a:avLst/>
          </a:prstGeom>
          <a:noFill/>
          <a:ln/>
        </p:spPr>
        <p:txBody>
          <a:bodyPr wrap="square" rtlCol="0" anchor="ctr"/>
          <a:lstStyle/>
          <a:p>
            <a:pPr indent="0" marL="0">
              <a:buNone/>
            </a:pPr>
            <a:r>
              <a:rPr lang="en-US" sz="950" dirty="0">
                <a:solidFill>
                  <a:srgbClr val="5A8FA8"/>
                </a:solidFill>
                <a:latin typeface="Courier New" pitchFamily="34" charset="0"/>
                <a:ea typeface="Courier New" pitchFamily="34" charset="-122"/>
                <a:cs typeface="Courier New" pitchFamily="34" charset="-120"/>
              </a:rPr>
              <a:t>  // Spring manages the entire transaction!</a:t>
            </a:r>
            <a:endParaRPr lang="en-US" sz="950" dirty="0"/>
          </a:p>
        </p:txBody>
      </p:sp>
      <p:sp>
        <p:nvSpPr>
          <p:cNvPr id="13" name="Text 11"/>
          <p:cNvSpPr/>
          <p:nvPr/>
        </p:nvSpPr>
        <p:spPr>
          <a:xfrm>
            <a:off x="502920" y="2072030"/>
            <a:ext cx="4709160" cy="162763"/>
          </a:xfrm>
          <a:prstGeom prst="rect">
            <a:avLst/>
          </a:prstGeom>
          <a:noFill/>
          <a:ln/>
        </p:spPr>
        <p:txBody>
          <a:bodyPr wrap="square" rtlCol="0" anchor="ctr"/>
          <a:lstStyle/>
          <a:p>
            <a:pPr indent="0" marL="0">
              <a:buNone/>
            </a:pPr>
            <a:r>
              <a:rPr lang="en-US" sz="950" b="1" dirty="0">
                <a:solidFill>
                  <a:srgbClr val="F5A623"/>
                </a:solidFill>
                <a:latin typeface="Courier New" pitchFamily="34" charset="0"/>
                <a:ea typeface="Courier New" pitchFamily="34" charset="-122"/>
                <a:cs typeface="Courier New" pitchFamily="34" charset="-120"/>
              </a:rPr>
              <a:t>  @Transactional</a:t>
            </a:r>
            <a:endParaRPr lang="en-US" sz="950" dirty="0"/>
          </a:p>
        </p:txBody>
      </p:sp>
      <p:sp>
        <p:nvSpPr>
          <p:cNvPr id="14" name="Text 12"/>
          <p:cNvSpPr/>
          <p:nvPr/>
        </p:nvSpPr>
        <p:spPr>
          <a:xfrm>
            <a:off x="502920" y="2234794"/>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public void transfer(</a:t>
            </a:r>
            <a:endParaRPr lang="en-US" sz="950" dirty="0"/>
          </a:p>
        </p:txBody>
      </p:sp>
      <p:sp>
        <p:nvSpPr>
          <p:cNvPr id="15" name="Text 13"/>
          <p:cNvSpPr/>
          <p:nvPr/>
        </p:nvSpPr>
        <p:spPr>
          <a:xfrm>
            <a:off x="502920" y="2397557"/>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Long fromId, Long toId, double amt) {</a:t>
            </a:r>
            <a:endParaRPr lang="en-US" sz="950" dirty="0"/>
          </a:p>
        </p:txBody>
      </p:sp>
      <p:sp>
        <p:nvSpPr>
          <p:cNvPr id="16" name="Text 14"/>
          <p:cNvSpPr/>
          <p:nvPr/>
        </p:nvSpPr>
        <p:spPr>
          <a:xfrm>
            <a:off x="502920" y="2560320"/>
            <a:ext cx="4709160" cy="162763"/>
          </a:xfrm>
          <a:prstGeom prst="rect">
            <a:avLst/>
          </a:prstGeom>
          <a:noFill/>
          <a:ln/>
        </p:spPr>
        <p:txBody>
          <a:bodyPr wrap="square" rtlCol="0" anchor="ctr"/>
          <a:lstStyle/>
          <a:p>
            <a:pPr indent="0" marL="0">
              <a:buNone/>
            </a:pPr>
            <a:endParaRPr lang="en-US" sz="950" dirty="0"/>
          </a:p>
        </p:txBody>
      </p:sp>
      <p:sp>
        <p:nvSpPr>
          <p:cNvPr id="17" name="Text 15"/>
          <p:cNvSpPr/>
          <p:nvPr/>
        </p:nvSpPr>
        <p:spPr>
          <a:xfrm>
            <a:off x="502920" y="2723083"/>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Account from = repo.findById(fromId)</a:t>
            </a:r>
            <a:endParaRPr lang="en-US" sz="950" dirty="0"/>
          </a:p>
        </p:txBody>
      </p:sp>
      <p:sp>
        <p:nvSpPr>
          <p:cNvPr id="18" name="Text 16"/>
          <p:cNvSpPr/>
          <p:nvPr/>
        </p:nvSpPr>
        <p:spPr>
          <a:xfrm>
            <a:off x="502920" y="2885846"/>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.orElseThrow(...);</a:t>
            </a:r>
            <a:endParaRPr lang="en-US" sz="950" dirty="0"/>
          </a:p>
        </p:txBody>
      </p:sp>
      <p:sp>
        <p:nvSpPr>
          <p:cNvPr id="19" name="Text 17"/>
          <p:cNvSpPr/>
          <p:nvPr/>
        </p:nvSpPr>
        <p:spPr>
          <a:xfrm>
            <a:off x="502920" y="3048610"/>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Account to   = repo.findById(toId)</a:t>
            </a:r>
            <a:endParaRPr lang="en-US" sz="950" dirty="0"/>
          </a:p>
        </p:txBody>
      </p:sp>
      <p:sp>
        <p:nvSpPr>
          <p:cNvPr id="20" name="Text 18"/>
          <p:cNvSpPr/>
          <p:nvPr/>
        </p:nvSpPr>
        <p:spPr>
          <a:xfrm>
            <a:off x="502920" y="3211373"/>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.orElseThrow(...);</a:t>
            </a:r>
            <a:endParaRPr lang="en-US" sz="950" dirty="0"/>
          </a:p>
        </p:txBody>
      </p:sp>
      <p:sp>
        <p:nvSpPr>
          <p:cNvPr id="21" name="Text 19"/>
          <p:cNvSpPr/>
          <p:nvPr/>
        </p:nvSpPr>
        <p:spPr>
          <a:xfrm>
            <a:off x="502920" y="3374136"/>
            <a:ext cx="4709160" cy="162763"/>
          </a:xfrm>
          <a:prstGeom prst="rect">
            <a:avLst/>
          </a:prstGeom>
          <a:noFill/>
          <a:ln/>
        </p:spPr>
        <p:txBody>
          <a:bodyPr wrap="square" rtlCol="0" anchor="ctr"/>
          <a:lstStyle/>
          <a:p>
            <a:pPr indent="0" marL="0">
              <a:buNone/>
            </a:pPr>
            <a:endParaRPr lang="en-US" sz="950" dirty="0"/>
          </a:p>
        </p:txBody>
      </p:sp>
      <p:sp>
        <p:nvSpPr>
          <p:cNvPr id="22" name="Text 20"/>
          <p:cNvSpPr/>
          <p:nvPr/>
        </p:nvSpPr>
        <p:spPr>
          <a:xfrm>
            <a:off x="502920" y="3536899"/>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from.setBalance(from.getBalance()-amt);</a:t>
            </a:r>
            <a:endParaRPr lang="en-US" sz="950" dirty="0"/>
          </a:p>
        </p:txBody>
      </p:sp>
      <p:sp>
        <p:nvSpPr>
          <p:cNvPr id="23" name="Text 21"/>
          <p:cNvSpPr/>
          <p:nvPr/>
        </p:nvSpPr>
        <p:spPr>
          <a:xfrm>
            <a:off x="502920" y="3699662"/>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to.setBalance(to.getBalance()+amt);</a:t>
            </a:r>
            <a:endParaRPr lang="en-US" sz="950" dirty="0"/>
          </a:p>
        </p:txBody>
      </p:sp>
      <p:sp>
        <p:nvSpPr>
          <p:cNvPr id="24" name="Text 22"/>
          <p:cNvSpPr/>
          <p:nvPr/>
        </p:nvSpPr>
        <p:spPr>
          <a:xfrm>
            <a:off x="502920" y="3862426"/>
            <a:ext cx="4709160" cy="162763"/>
          </a:xfrm>
          <a:prstGeom prst="rect">
            <a:avLst/>
          </a:prstGeom>
          <a:noFill/>
          <a:ln/>
        </p:spPr>
        <p:txBody>
          <a:bodyPr wrap="square" rtlCol="0" anchor="ctr"/>
          <a:lstStyle/>
          <a:p>
            <a:pPr indent="0" marL="0">
              <a:buNone/>
            </a:pPr>
            <a:r>
              <a:rPr lang="en-US" sz="950" dirty="0">
                <a:solidFill>
                  <a:srgbClr val="02A896"/>
                </a:solidFill>
                <a:latin typeface="Courier New" pitchFamily="34" charset="0"/>
                <a:ea typeface="Courier New" pitchFamily="34" charset="-122"/>
                <a:cs typeface="Courier New" pitchFamily="34" charset="-120"/>
              </a:rPr>
              <a:t>    repo.save(from); repo.save(to);</a:t>
            </a:r>
            <a:endParaRPr lang="en-US" sz="950" dirty="0"/>
          </a:p>
        </p:txBody>
      </p:sp>
      <p:sp>
        <p:nvSpPr>
          <p:cNvPr id="25" name="Text 23"/>
          <p:cNvSpPr/>
          <p:nvPr/>
        </p:nvSpPr>
        <p:spPr>
          <a:xfrm>
            <a:off x="502920" y="4025189"/>
            <a:ext cx="4709160" cy="162763"/>
          </a:xfrm>
          <a:prstGeom prst="rect">
            <a:avLst/>
          </a:prstGeom>
          <a:noFill/>
          <a:ln/>
        </p:spPr>
        <p:txBody>
          <a:bodyPr wrap="square" rtlCol="0" anchor="ctr"/>
          <a:lstStyle/>
          <a:p>
            <a:pPr indent="0" marL="0">
              <a:buNone/>
            </a:pPr>
            <a:r>
              <a:rPr lang="en-US" sz="950" dirty="0">
                <a:solidFill>
                  <a:srgbClr val="5A8FA8"/>
                </a:solidFill>
                <a:latin typeface="Courier New" pitchFamily="34" charset="0"/>
                <a:ea typeface="Courier New" pitchFamily="34" charset="-122"/>
                <a:cs typeface="Courier New" pitchFamily="34" charset="-120"/>
              </a:rPr>
              <a:t>    // Auto-commits on return</a:t>
            </a:r>
            <a:endParaRPr lang="en-US" sz="950" dirty="0"/>
          </a:p>
        </p:txBody>
      </p:sp>
      <p:sp>
        <p:nvSpPr>
          <p:cNvPr id="26" name="Text 24"/>
          <p:cNvSpPr/>
          <p:nvPr/>
        </p:nvSpPr>
        <p:spPr>
          <a:xfrm>
            <a:off x="502920" y="4187952"/>
            <a:ext cx="4709160" cy="162763"/>
          </a:xfrm>
          <a:prstGeom prst="rect">
            <a:avLst/>
          </a:prstGeom>
          <a:noFill/>
          <a:ln/>
        </p:spPr>
        <p:txBody>
          <a:bodyPr wrap="square" rtlCol="0" anchor="ctr"/>
          <a:lstStyle/>
          <a:p>
            <a:pPr indent="0" marL="0">
              <a:buNone/>
            </a:pPr>
            <a:r>
              <a:rPr lang="en-US" sz="950" dirty="0">
                <a:solidFill>
                  <a:srgbClr val="E05252"/>
                </a:solidFill>
                <a:latin typeface="Courier New" pitchFamily="34" charset="0"/>
                <a:ea typeface="Courier New" pitchFamily="34" charset="-122"/>
                <a:cs typeface="Courier New" pitchFamily="34" charset="-120"/>
              </a:rPr>
              <a:t>    // Auto-rollback on RuntimeException</a:t>
            </a:r>
            <a:endParaRPr lang="en-US" sz="950" dirty="0"/>
          </a:p>
        </p:txBody>
      </p:sp>
      <p:sp>
        <p:nvSpPr>
          <p:cNvPr id="27" name="Text 25"/>
          <p:cNvSpPr/>
          <p:nvPr/>
        </p:nvSpPr>
        <p:spPr>
          <a:xfrm>
            <a:off x="502920" y="4350715"/>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  }</a:t>
            </a:r>
            <a:endParaRPr lang="en-US" sz="950" dirty="0"/>
          </a:p>
        </p:txBody>
      </p:sp>
      <p:sp>
        <p:nvSpPr>
          <p:cNvPr id="28" name="Text 26"/>
          <p:cNvSpPr/>
          <p:nvPr/>
        </p:nvSpPr>
        <p:spPr>
          <a:xfrm>
            <a:off x="502920" y="4513478"/>
            <a:ext cx="4709160" cy="162763"/>
          </a:xfrm>
          <a:prstGeom prst="rect">
            <a:avLst/>
          </a:prstGeom>
          <a:noFill/>
          <a:ln/>
        </p:spPr>
        <p:txBody>
          <a:bodyPr wrap="square" rtlCol="0" anchor="ctr"/>
          <a:lstStyle/>
          <a:p>
            <a:pPr indent="0" marL="0">
              <a:buNone/>
            </a:pPr>
            <a:r>
              <a:rPr lang="en-US" sz="950" dirty="0">
                <a:solidFill>
                  <a:srgbClr val="D4EAF7"/>
                </a:solidFill>
                <a:latin typeface="Courier New" pitchFamily="34" charset="0"/>
                <a:ea typeface="Courier New" pitchFamily="34" charset="-122"/>
                <a:cs typeface="Courier New" pitchFamily="34" charset="-120"/>
              </a:rPr>
              <a:t>}</a:t>
            </a:r>
            <a:endParaRPr lang="en-US" sz="950" dirty="0"/>
          </a:p>
        </p:txBody>
      </p:sp>
      <p:sp>
        <p:nvSpPr>
          <p:cNvPr id="29" name="Text 27"/>
          <p:cNvSpPr/>
          <p:nvPr/>
        </p:nvSpPr>
        <p:spPr>
          <a:xfrm>
            <a:off x="5532120" y="868680"/>
            <a:ext cx="3246120" cy="384048"/>
          </a:xfrm>
          <a:prstGeom prst="rect">
            <a:avLst/>
          </a:prstGeom>
          <a:noFill/>
          <a:ln/>
        </p:spPr>
        <p:txBody>
          <a:bodyPr wrap="square" rtlCol="0" anchor="ctr"/>
          <a:lstStyle/>
          <a:p>
            <a:pPr indent="0" marL="0">
              <a:buNone/>
            </a:pPr>
            <a:r>
              <a:rPr lang="en-US" sz="1400" b="1" dirty="0">
                <a:solidFill>
                  <a:srgbClr val="1A2B4A"/>
                </a:solidFill>
                <a:latin typeface="Calibri" pitchFamily="34" charset="0"/>
                <a:ea typeface="Calibri" pitchFamily="34" charset="-122"/>
                <a:cs typeface="Calibri" pitchFamily="34" charset="-120"/>
              </a:rPr>
              <a:t>Why use @Transactional?</a:t>
            </a:r>
            <a:endParaRPr lang="en-US" sz="1400" dirty="0"/>
          </a:p>
        </p:txBody>
      </p:sp>
      <p:sp>
        <p:nvSpPr>
          <p:cNvPr id="30" name="Shape 28"/>
          <p:cNvSpPr/>
          <p:nvPr/>
        </p:nvSpPr>
        <p:spPr>
          <a:xfrm>
            <a:off x="5532120" y="1371600"/>
            <a:ext cx="3246120" cy="676656"/>
          </a:xfrm>
          <a:prstGeom prst="roundRect">
            <a:avLst>
              <a:gd name="adj" fmla="val 10811"/>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31" name="Shape 29"/>
          <p:cNvSpPr/>
          <p:nvPr/>
        </p:nvSpPr>
        <p:spPr>
          <a:xfrm>
            <a:off x="5596128" y="1426464"/>
            <a:ext cx="274320" cy="274320"/>
          </a:xfrm>
          <a:prstGeom prst="ellipse">
            <a:avLst/>
          </a:prstGeom>
          <a:solidFill>
            <a:srgbClr val="0096C7"/>
          </a:solidFill>
          <a:ln w="12700">
            <a:solidFill>
              <a:srgbClr val="0096C7"/>
            </a:solidFill>
            <a:prstDash val="solid"/>
          </a:ln>
        </p:spPr>
      </p:sp>
      <p:sp>
        <p:nvSpPr>
          <p:cNvPr id="32" name="Text 30"/>
          <p:cNvSpPr/>
          <p:nvPr/>
        </p:nvSpPr>
        <p:spPr>
          <a:xfrm>
            <a:off x="5943600" y="1408176"/>
            <a:ext cx="2743200" cy="256032"/>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Declarative control</a:t>
            </a:r>
            <a:endParaRPr lang="en-US" sz="1150" dirty="0"/>
          </a:p>
        </p:txBody>
      </p:sp>
      <p:sp>
        <p:nvSpPr>
          <p:cNvPr id="33" name="Text 31"/>
          <p:cNvSpPr/>
          <p:nvPr/>
        </p:nvSpPr>
        <p:spPr>
          <a:xfrm>
            <a:off x="5943600" y="1664208"/>
            <a:ext cx="2743200" cy="320040"/>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No manual commit/rollback code — annotation handles it.</a:t>
            </a:r>
            <a:endParaRPr lang="en-US" sz="1000" dirty="0"/>
          </a:p>
        </p:txBody>
      </p:sp>
      <p:sp>
        <p:nvSpPr>
          <p:cNvPr id="34" name="Shape 32"/>
          <p:cNvSpPr/>
          <p:nvPr/>
        </p:nvSpPr>
        <p:spPr>
          <a:xfrm>
            <a:off x="5532120" y="2103120"/>
            <a:ext cx="3246120" cy="676656"/>
          </a:xfrm>
          <a:prstGeom prst="roundRect">
            <a:avLst>
              <a:gd name="adj" fmla="val 10811"/>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35" name="Shape 33"/>
          <p:cNvSpPr/>
          <p:nvPr/>
        </p:nvSpPr>
        <p:spPr>
          <a:xfrm>
            <a:off x="5596128" y="2157984"/>
            <a:ext cx="274320" cy="274320"/>
          </a:xfrm>
          <a:prstGeom prst="ellipse">
            <a:avLst/>
          </a:prstGeom>
          <a:solidFill>
            <a:srgbClr val="02A896"/>
          </a:solidFill>
          <a:ln w="12700">
            <a:solidFill>
              <a:srgbClr val="02A896"/>
            </a:solidFill>
            <a:prstDash val="solid"/>
          </a:ln>
        </p:spPr>
      </p:sp>
      <p:sp>
        <p:nvSpPr>
          <p:cNvPr id="36" name="Text 34"/>
          <p:cNvSpPr/>
          <p:nvPr/>
        </p:nvSpPr>
        <p:spPr>
          <a:xfrm>
            <a:off x="5943600" y="2139696"/>
            <a:ext cx="2743200" cy="256032"/>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Automatic rollback</a:t>
            </a:r>
            <a:endParaRPr lang="en-US" sz="1150" dirty="0"/>
          </a:p>
        </p:txBody>
      </p:sp>
      <p:sp>
        <p:nvSpPr>
          <p:cNvPr id="37" name="Text 35"/>
          <p:cNvSpPr/>
          <p:nvPr/>
        </p:nvSpPr>
        <p:spPr>
          <a:xfrm>
            <a:off x="5943600" y="2395728"/>
            <a:ext cx="2743200" cy="320040"/>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Spring rolls back on unchecked (Runtime) exceptions automatically.</a:t>
            </a:r>
            <a:endParaRPr lang="en-US" sz="1000" dirty="0"/>
          </a:p>
        </p:txBody>
      </p:sp>
      <p:sp>
        <p:nvSpPr>
          <p:cNvPr id="38" name="Shape 36"/>
          <p:cNvSpPr/>
          <p:nvPr/>
        </p:nvSpPr>
        <p:spPr>
          <a:xfrm>
            <a:off x="5532120" y="2834640"/>
            <a:ext cx="3246120" cy="676656"/>
          </a:xfrm>
          <a:prstGeom prst="roundRect">
            <a:avLst>
              <a:gd name="adj" fmla="val 10811"/>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39" name="Shape 37"/>
          <p:cNvSpPr/>
          <p:nvPr/>
        </p:nvSpPr>
        <p:spPr>
          <a:xfrm>
            <a:off x="5596128" y="2889504"/>
            <a:ext cx="274320" cy="274320"/>
          </a:xfrm>
          <a:prstGeom prst="ellipse">
            <a:avLst/>
          </a:prstGeom>
          <a:solidFill>
            <a:srgbClr val="F5A623"/>
          </a:solidFill>
          <a:ln w="12700">
            <a:solidFill>
              <a:srgbClr val="F5A623"/>
            </a:solidFill>
            <a:prstDash val="solid"/>
          </a:ln>
        </p:spPr>
      </p:sp>
      <p:sp>
        <p:nvSpPr>
          <p:cNvPr id="40" name="Text 38"/>
          <p:cNvSpPr/>
          <p:nvPr/>
        </p:nvSpPr>
        <p:spPr>
          <a:xfrm>
            <a:off x="5943600" y="2871216"/>
            <a:ext cx="2743200" cy="256032"/>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Works with JPA/Hibernate</a:t>
            </a:r>
            <a:endParaRPr lang="en-US" sz="1150" dirty="0"/>
          </a:p>
        </p:txBody>
      </p:sp>
      <p:sp>
        <p:nvSpPr>
          <p:cNvPr id="41" name="Text 39"/>
          <p:cNvSpPr/>
          <p:nvPr/>
        </p:nvSpPr>
        <p:spPr>
          <a:xfrm>
            <a:off x="5943600" y="3127248"/>
            <a:ext cx="2743200" cy="320040"/>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Transparently manages EntityManager and session flush.</a:t>
            </a:r>
            <a:endParaRPr lang="en-US" sz="1000" dirty="0"/>
          </a:p>
        </p:txBody>
      </p:sp>
      <p:sp>
        <p:nvSpPr>
          <p:cNvPr id="42" name="Shape 40"/>
          <p:cNvSpPr/>
          <p:nvPr/>
        </p:nvSpPr>
        <p:spPr>
          <a:xfrm>
            <a:off x="5532120" y="3566160"/>
            <a:ext cx="3246120" cy="676656"/>
          </a:xfrm>
          <a:prstGeom prst="roundRect">
            <a:avLst>
              <a:gd name="adj" fmla="val 10811"/>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43" name="Shape 41"/>
          <p:cNvSpPr/>
          <p:nvPr/>
        </p:nvSpPr>
        <p:spPr>
          <a:xfrm>
            <a:off x="5596128" y="3621024"/>
            <a:ext cx="274320" cy="274320"/>
          </a:xfrm>
          <a:prstGeom prst="ellipse">
            <a:avLst/>
          </a:prstGeom>
          <a:solidFill>
            <a:srgbClr val="2E9E6E"/>
          </a:solidFill>
          <a:ln w="12700">
            <a:solidFill>
              <a:srgbClr val="2E9E6E"/>
            </a:solidFill>
            <a:prstDash val="solid"/>
          </a:ln>
        </p:spPr>
      </p:sp>
      <p:sp>
        <p:nvSpPr>
          <p:cNvPr id="44" name="Text 42"/>
          <p:cNvSpPr/>
          <p:nvPr/>
        </p:nvSpPr>
        <p:spPr>
          <a:xfrm>
            <a:off x="5943600" y="3602736"/>
            <a:ext cx="2743200" cy="256032"/>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Propagation support</a:t>
            </a:r>
            <a:endParaRPr lang="en-US" sz="1150" dirty="0"/>
          </a:p>
        </p:txBody>
      </p:sp>
      <p:sp>
        <p:nvSpPr>
          <p:cNvPr id="45" name="Text 43"/>
          <p:cNvSpPr/>
          <p:nvPr/>
        </p:nvSpPr>
        <p:spPr>
          <a:xfrm>
            <a:off x="5943600" y="3858768"/>
            <a:ext cx="2743200" cy="320040"/>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Control how nested transactions behave (REQUIRED, NEW, etc.).</a:t>
            </a:r>
            <a:endParaRPr lang="en-US" sz="1000" dirty="0"/>
          </a:p>
        </p:txBody>
      </p:sp>
      <p:sp>
        <p:nvSpPr>
          <p:cNvPr id="46" name="Shape 44"/>
          <p:cNvSpPr/>
          <p:nvPr/>
        </p:nvSpPr>
        <p:spPr>
          <a:xfrm>
            <a:off x="5532120" y="4297680"/>
            <a:ext cx="3246120" cy="676656"/>
          </a:xfrm>
          <a:prstGeom prst="roundRect">
            <a:avLst>
              <a:gd name="adj" fmla="val 10811"/>
            </a:avLst>
          </a:prstGeom>
          <a:solidFill>
            <a:srgbClr val="F5FAFF"/>
          </a:solidFill>
          <a:ln w="12700">
            <a:solidFill>
              <a:srgbClr val="D0E4F0"/>
            </a:solidFill>
            <a:prstDash val="solid"/>
          </a:ln>
          <a:effectLst>
            <a:outerShdw sx="100000" sy="100000" kx="0" ky="0" algn="bl" rotWithShape="0" blurRad="101600" dist="38100" dir="2700000">
              <a:srgbClr val="000000">
                <a:alpha val="10000"/>
              </a:srgbClr>
            </a:outerShdw>
          </a:effectLst>
        </p:spPr>
      </p:sp>
      <p:sp>
        <p:nvSpPr>
          <p:cNvPr id="47" name="Shape 45"/>
          <p:cNvSpPr/>
          <p:nvPr/>
        </p:nvSpPr>
        <p:spPr>
          <a:xfrm>
            <a:off x="5596128" y="4352544"/>
            <a:ext cx="274320" cy="274320"/>
          </a:xfrm>
          <a:prstGeom prst="ellipse">
            <a:avLst/>
          </a:prstGeom>
          <a:solidFill>
            <a:srgbClr val="E05252"/>
          </a:solidFill>
          <a:ln w="12700">
            <a:solidFill>
              <a:srgbClr val="E05252"/>
            </a:solidFill>
            <a:prstDash val="solid"/>
          </a:ln>
        </p:spPr>
      </p:sp>
      <p:sp>
        <p:nvSpPr>
          <p:cNvPr id="48" name="Text 46"/>
          <p:cNvSpPr/>
          <p:nvPr/>
        </p:nvSpPr>
        <p:spPr>
          <a:xfrm>
            <a:off x="5943600" y="4334256"/>
            <a:ext cx="2743200" cy="256032"/>
          </a:xfrm>
          <a:prstGeom prst="rect">
            <a:avLst/>
          </a:prstGeom>
          <a:noFill/>
          <a:ln/>
        </p:spPr>
        <p:txBody>
          <a:bodyPr wrap="square"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Isolation control</a:t>
            </a:r>
            <a:endParaRPr lang="en-US" sz="1150" dirty="0"/>
          </a:p>
        </p:txBody>
      </p:sp>
      <p:sp>
        <p:nvSpPr>
          <p:cNvPr id="49" name="Text 47"/>
          <p:cNvSpPr/>
          <p:nvPr/>
        </p:nvSpPr>
        <p:spPr>
          <a:xfrm>
            <a:off x="5943600" y="4590288"/>
            <a:ext cx="2743200" cy="320040"/>
          </a:xfrm>
          <a:prstGeom prst="rect">
            <a:avLst/>
          </a:prstGeom>
          <a:noFill/>
          <a:ln/>
        </p:spPr>
        <p:txBody>
          <a:bodyPr wrap="square" rtlCol="0" anchor="ctr"/>
          <a:lstStyle/>
          <a:p>
            <a:pPr indent="0" marL="0">
              <a:buNone/>
            </a:pPr>
            <a:r>
              <a:rPr lang="en-US" sz="1000" dirty="0">
                <a:solidFill>
                  <a:srgbClr val="4E6A80"/>
                </a:solidFill>
                <a:latin typeface="Calibri" pitchFamily="34" charset="0"/>
                <a:ea typeface="Calibri" pitchFamily="34" charset="-122"/>
                <a:cs typeface="Calibri" pitchFamily="34" charset="-120"/>
              </a:rPr>
              <a:t>@Transactional(isolation = Isolation.SERIALIZABLE)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Summary &amp; Key Takeaways</a:t>
            </a:r>
            <a:endParaRPr lang="en-US" sz="3000" dirty="0"/>
          </a:p>
        </p:txBody>
      </p:sp>
      <p:sp>
        <p:nvSpPr>
          <p:cNvPr id="3" name="Shape 1"/>
          <p:cNvSpPr/>
          <p:nvPr/>
        </p:nvSpPr>
        <p:spPr>
          <a:xfrm>
            <a:off x="411480" y="1005840"/>
            <a:ext cx="4160520" cy="1115568"/>
          </a:xfrm>
          <a:prstGeom prst="roundRect">
            <a:avLst>
              <a:gd name="adj" fmla="val 8197"/>
            </a:avLst>
          </a:prstGeom>
          <a:solidFill>
            <a:srgbClr val="0E2233"/>
          </a:solidFill>
          <a:ln w="19050">
            <a:solidFill>
              <a:srgbClr val="0096C7"/>
            </a:solidFill>
            <a:prstDash val="solid"/>
          </a:ln>
        </p:spPr>
      </p:sp>
      <p:sp>
        <p:nvSpPr>
          <p:cNvPr id="4" name="Shape 2"/>
          <p:cNvSpPr/>
          <p:nvPr/>
        </p:nvSpPr>
        <p:spPr>
          <a:xfrm>
            <a:off x="539496" y="1143000"/>
            <a:ext cx="347472" cy="347472"/>
          </a:xfrm>
          <a:prstGeom prst="ellipse">
            <a:avLst/>
          </a:prstGeom>
          <a:solidFill>
            <a:srgbClr val="0096C7"/>
          </a:solidFill>
          <a:ln w="12700">
            <a:solidFill>
              <a:srgbClr val="0096C7"/>
            </a:solidFill>
            <a:prstDash val="solid"/>
          </a:ln>
        </p:spPr>
      </p:sp>
      <p:sp>
        <p:nvSpPr>
          <p:cNvPr id="5" name="Text 3"/>
          <p:cNvSpPr/>
          <p:nvPr/>
        </p:nvSpPr>
        <p:spPr>
          <a:xfrm>
            <a:off x="539496" y="1143000"/>
            <a:ext cx="347472" cy="347472"/>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978408" y="1133856"/>
            <a:ext cx="3474720" cy="347472"/>
          </a:xfrm>
          <a:prstGeom prst="rect">
            <a:avLst/>
          </a:prstGeom>
          <a:noFill/>
          <a:ln/>
        </p:spPr>
        <p:txBody>
          <a:bodyPr wrap="square" rtlCol="0" anchor="ctr"/>
          <a:lstStyle/>
          <a:p>
            <a:pPr indent="0" marL="0">
              <a:buNone/>
            </a:pPr>
            <a:r>
              <a:rPr lang="en-US" sz="1300" b="1" dirty="0">
                <a:solidFill>
                  <a:srgbClr val="0096C7"/>
                </a:solidFill>
                <a:latin typeface="Calibri" pitchFamily="34" charset="0"/>
                <a:ea typeface="Calibri" pitchFamily="34" charset="-122"/>
                <a:cs typeface="Calibri" pitchFamily="34" charset="-120"/>
              </a:rPr>
              <a:t>Transaction Management</a:t>
            </a:r>
            <a:endParaRPr lang="en-US" sz="1300" dirty="0"/>
          </a:p>
        </p:txBody>
      </p:sp>
      <p:sp>
        <p:nvSpPr>
          <p:cNvPr id="7" name="Text 5"/>
          <p:cNvSpPr/>
          <p:nvPr/>
        </p:nvSpPr>
        <p:spPr>
          <a:xfrm>
            <a:off x="978408" y="1463040"/>
            <a:ext cx="3474720" cy="566928"/>
          </a:xfrm>
          <a:prstGeom prst="rect">
            <a:avLst/>
          </a:prstGeom>
          <a:noFill/>
          <a:ln/>
        </p:spPr>
        <p:txBody>
          <a:bodyPr wrap="square" rtlCol="0" anchor="ctr"/>
          <a:lstStyle/>
          <a:p>
            <a:pPr indent="0" marL="0">
              <a:buNone/>
            </a:pPr>
            <a:r>
              <a:rPr lang="en-US" sz="1050" dirty="0">
                <a:solidFill>
                  <a:srgbClr val="A8C8DC"/>
                </a:solidFill>
                <a:latin typeface="Calibri" pitchFamily="34" charset="0"/>
                <a:ea typeface="Calibri" pitchFamily="34" charset="-122"/>
                <a:cs typeface="Calibri" pitchFamily="34" charset="-120"/>
              </a:rPr>
              <a:t>Ensures a group of operations execute completely or not at all, protecting database integrity.</a:t>
            </a:r>
            <a:endParaRPr lang="en-US" sz="1050" dirty="0"/>
          </a:p>
        </p:txBody>
      </p:sp>
      <p:sp>
        <p:nvSpPr>
          <p:cNvPr id="8" name="Shape 6"/>
          <p:cNvSpPr/>
          <p:nvPr/>
        </p:nvSpPr>
        <p:spPr>
          <a:xfrm>
            <a:off x="411480" y="2267712"/>
            <a:ext cx="4160520" cy="1115568"/>
          </a:xfrm>
          <a:prstGeom prst="roundRect">
            <a:avLst>
              <a:gd name="adj" fmla="val 8197"/>
            </a:avLst>
          </a:prstGeom>
          <a:solidFill>
            <a:srgbClr val="0E2233"/>
          </a:solidFill>
          <a:ln w="19050">
            <a:solidFill>
              <a:srgbClr val="02A896"/>
            </a:solidFill>
            <a:prstDash val="solid"/>
          </a:ln>
        </p:spPr>
      </p:sp>
      <p:sp>
        <p:nvSpPr>
          <p:cNvPr id="9" name="Shape 7"/>
          <p:cNvSpPr/>
          <p:nvPr/>
        </p:nvSpPr>
        <p:spPr>
          <a:xfrm>
            <a:off x="539496" y="2404872"/>
            <a:ext cx="347472" cy="347472"/>
          </a:xfrm>
          <a:prstGeom prst="ellipse">
            <a:avLst/>
          </a:prstGeom>
          <a:solidFill>
            <a:srgbClr val="02A896"/>
          </a:solidFill>
          <a:ln w="12700">
            <a:solidFill>
              <a:srgbClr val="02A896"/>
            </a:solidFill>
            <a:prstDash val="solid"/>
          </a:ln>
        </p:spPr>
      </p:sp>
      <p:sp>
        <p:nvSpPr>
          <p:cNvPr id="10" name="Text 8"/>
          <p:cNvSpPr/>
          <p:nvPr/>
        </p:nvSpPr>
        <p:spPr>
          <a:xfrm>
            <a:off x="539496" y="2404872"/>
            <a:ext cx="347472" cy="347472"/>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A</a:t>
            </a:r>
            <a:endParaRPr lang="en-US" sz="1400" dirty="0"/>
          </a:p>
        </p:txBody>
      </p:sp>
      <p:sp>
        <p:nvSpPr>
          <p:cNvPr id="11" name="Text 9"/>
          <p:cNvSpPr/>
          <p:nvPr/>
        </p:nvSpPr>
        <p:spPr>
          <a:xfrm>
            <a:off x="978408" y="2395728"/>
            <a:ext cx="3474720" cy="347472"/>
          </a:xfrm>
          <a:prstGeom prst="rect">
            <a:avLst/>
          </a:prstGeom>
          <a:noFill/>
          <a:ln/>
        </p:spPr>
        <p:txBody>
          <a:bodyPr wrap="square" rtlCol="0" anchor="ctr"/>
          <a:lstStyle/>
          <a:p>
            <a:pPr indent="0" marL="0">
              <a:buNone/>
            </a:pPr>
            <a:r>
              <a:rPr lang="en-US" sz="1300" b="1" dirty="0">
                <a:solidFill>
                  <a:srgbClr val="02A896"/>
                </a:solidFill>
                <a:latin typeface="Calibri" pitchFamily="34" charset="0"/>
                <a:ea typeface="Calibri" pitchFamily="34" charset="-122"/>
                <a:cs typeface="Calibri" pitchFamily="34" charset="-120"/>
              </a:rPr>
              <a:t>Atomicity</a:t>
            </a:r>
            <a:endParaRPr lang="en-US" sz="1300" dirty="0"/>
          </a:p>
        </p:txBody>
      </p:sp>
      <p:sp>
        <p:nvSpPr>
          <p:cNvPr id="12" name="Text 10"/>
          <p:cNvSpPr/>
          <p:nvPr/>
        </p:nvSpPr>
        <p:spPr>
          <a:xfrm>
            <a:off x="978408" y="2724912"/>
            <a:ext cx="3474720" cy="566928"/>
          </a:xfrm>
          <a:prstGeom prst="rect">
            <a:avLst/>
          </a:prstGeom>
          <a:noFill/>
          <a:ln/>
        </p:spPr>
        <p:txBody>
          <a:bodyPr wrap="square" rtlCol="0" anchor="ctr"/>
          <a:lstStyle/>
          <a:p>
            <a:pPr indent="0" marL="0">
              <a:buNone/>
            </a:pPr>
            <a:r>
              <a:rPr lang="en-US" sz="1050" dirty="0">
                <a:solidFill>
                  <a:srgbClr val="A8C8DC"/>
                </a:solidFill>
                <a:latin typeface="Calibri" pitchFamily="34" charset="0"/>
                <a:ea typeface="Calibri" pitchFamily="34" charset="-122"/>
                <a:cs typeface="Calibri" pitchFamily="34" charset="-120"/>
              </a:rPr>
              <a:t>No partial transactions — all or nothing ensures no half-completed operations remain.</a:t>
            </a:r>
            <a:endParaRPr lang="en-US" sz="1050" dirty="0"/>
          </a:p>
        </p:txBody>
      </p:sp>
      <p:sp>
        <p:nvSpPr>
          <p:cNvPr id="13" name="Shape 11"/>
          <p:cNvSpPr/>
          <p:nvPr/>
        </p:nvSpPr>
        <p:spPr>
          <a:xfrm>
            <a:off x="411480" y="3529584"/>
            <a:ext cx="4160520" cy="1115568"/>
          </a:xfrm>
          <a:prstGeom prst="roundRect">
            <a:avLst>
              <a:gd name="adj" fmla="val 8197"/>
            </a:avLst>
          </a:prstGeom>
          <a:solidFill>
            <a:srgbClr val="0E2233"/>
          </a:solidFill>
          <a:ln w="19050">
            <a:solidFill>
              <a:srgbClr val="F5A623"/>
            </a:solidFill>
            <a:prstDash val="solid"/>
          </a:ln>
        </p:spPr>
      </p:sp>
      <p:sp>
        <p:nvSpPr>
          <p:cNvPr id="14" name="Shape 12"/>
          <p:cNvSpPr/>
          <p:nvPr/>
        </p:nvSpPr>
        <p:spPr>
          <a:xfrm>
            <a:off x="539496" y="3666744"/>
            <a:ext cx="347472" cy="347472"/>
          </a:xfrm>
          <a:prstGeom prst="ellipse">
            <a:avLst/>
          </a:prstGeom>
          <a:solidFill>
            <a:srgbClr val="F5A623"/>
          </a:solidFill>
          <a:ln w="12700">
            <a:solidFill>
              <a:srgbClr val="F5A623"/>
            </a:solidFill>
            <a:prstDash val="solid"/>
          </a:ln>
        </p:spPr>
      </p:sp>
      <p:sp>
        <p:nvSpPr>
          <p:cNvPr id="15" name="Text 13"/>
          <p:cNvSpPr/>
          <p:nvPr/>
        </p:nvSpPr>
        <p:spPr>
          <a:xfrm>
            <a:off x="539496" y="3666744"/>
            <a:ext cx="347472" cy="347472"/>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C</a:t>
            </a:r>
            <a:endParaRPr lang="en-US" sz="1400" dirty="0"/>
          </a:p>
        </p:txBody>
      </p:sp>
      <p:sp>
        <p:nvSpPr>
          <p:cNvPr id="16" name="Text 14"/>
          <p:cNvSpPr/>
          <p:nvPr/>
        </p:nvSpPr>
        <p:spPr>
          <a:xfrm>
            <a:off x="978408" y="3657600"/>
            <a:ext cx="3474720" cy="347472"/>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Consistency</a:t>
            </a:r>
            <a:endParaRPr lang="en-US" sz="1300" dirty="0"/>
          </a:p>
        </p:txBody>
      </p:sp>
      <p:sp>
        <p:nvSpPr>
          <p:cNvPr id="17" name="Text 15"/>
          <p:cNvSpPr/>
          <p:nvPr/>
        </p:nvSpPr>
        <p:spPr>
          <a:xfrm>
            <a:off x="978408" y="3986784"/>
            <a:ext cx="3474720" cy="566928"/>
          </a:xfrm>
          <a:prstGeom prst="rect">
            <a:avLst/>
          </a:prstGeom>
          <a:noFill/>
          <a:ln/>
        </p:spPr>
        <p:txBody>
          <a:bodyPr wrap="square" rtlCol="0" anchor="ctr"/>
          <a:lstStyle/>
          <a:p>
            <a:pPr indent="0" marL="0">
              <a:buNone/>
            </a:pPr>
            <a:r>
              <a:rPr lang="en-US" sz="1050" dirty="0">
                <a:solidFill>
                  <a:srgbClr val="A8C8DC"/>
                </a:solidFill>
                <a:latin typeface="Calibri" pitchFamily="34" charset="0"/>
                <a:ea typeface="Calibri" pitchFamily="34" charset="-122"/>
                <a:cs typeface="Calibri" pitchFamily="34" charset="-120"/>
              </a:rPr>
              <a:t>Database constraints and rules are always upheld before and after every transaction.</a:t>
            </a:r>
            <a:endParaRPr lang="en-US" sz="1050" dirty="0"/>
          </a:p>
        </p:txBody>
      </p:sp>
      <p:sp>
        <p:nvSpPr>
          <p:cNvPr id="18" name="Shape 16"/>
          <p:cNvSpPr/>
          <p:nvPr/>
        </p:nvSpPr>
        <p:spPr>
          <a:xfrm>
            <a:off x="4754880" y="1005840"/>
            <a:ext cx="4160520" cy="1115568"/>
          </a:xfrm>
          <a:prstGeom prst="roundRect">
            <a:avLst>
              <a:gd name="adj" fmla="val 8197"/>
            </a:avLst>
          </a:prstGeom>
          <a:solidFill>
            <a:srgbClr val="0E2233"/>
          </a:solidFill>
          <a:ln w="19050">
            <a:solidFill>
              <a:srgbClr val="9EC8E0"/>
            </a:solidFill>
            <a:prstDash val="solid"/>
          </a:ln>
        </p:spPr>
      </p:sp>
      <p:sp>
        <p:nvSpPr>
          <p:cNvPr id="19" name="Shape 17"/>
          <p:cNvSpPr/>
          <p:nvPr/>
        </p:nvSpPr>
        <p:spPr>
          <a:xfrm>
            <a:off x="4882896" y="1143000"/>
            <a:ext cx="347472" cy="347472"/>
          </a:xfrm>
          <a:prstGeom prst="ellipse">
            <a:avLst/>
          </a:prstGeom>
          <a:solidFill>
            <a:srgbClr val="9EC8E0"/>
          </a:solidFill>
          <a:ln w="12700">
            <a:solidFill>
              <a:srgbClr val="9EC8E0"/>
            </a:solidFill>
            <a:prstDash val="solid"/>
          </a:ln>
        </p:spPr>
      </p:sp>
      <p:sp>
        <p:nvSpPr>
          <p:cNvPr id="20" name="Text 18"/>
          <p:cNvSpPr/>
          <p:nvPr/>
        </p:nvSpPr>
        <p:spPr>
          <a:xfrm>
            <a:off x="4882896" y="1143000"/>
            <a:ext cx="347472" cy="347472"/>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I</a:t>
            </a:r>
            <a:endParaRPr lang="en-US" sz="1400" dirty="0"/>
          </a:p>
        </p:txBody>
      </p:sp>
      <p:sp>
        <p:nvSpPr>
          <p:cNvPr id="21" name="Text 19"/>
          <p:cNvSpPr/>
          <p:nvPr/>
        </p:nvSpPr>
        <p:spPr>
          <a:xfrm>
            <a:off x="5321808" y="1133856"/>
            <a:ext cx="3474720" cy="347472"/>
          </a:xfrm>
          <a:prstGeom prst="rect">
            <a:avLst/>
          </a:prstGeom>
          <a:noFill/>
          <a:ln/>
        </p:spPr>
        <p:txBody>
          <a:bodyPr wrap="square" rtlCol="0" anchor="ctr"/>
          <a:lstStyle/>
          <a:p>
            <a:pPr indent="0" marL="0">
              <a:buNone/>
            </a:pPr>
            <a:r>
              <a:rPr lang="en-US" sz="1300" b="1" dirty="0">
                <a:solidFill>
                  <a:srgbClr val="9EC8E0"/>
                </a:solidFill>
                <a:latin typeface="Calibri" pitchFamily="34" charset="0"/>
                <a:ea typeface="Calibri" pitchFamily="34" charset="-122"/>
                <a:cs typeface="Calibri" pitchFamily="34" charset="-120"/>
              </a:rPr>
              <a:t>Isolation</a:t>
            </a:r>
            <a:endParaRPr lang="en-US" sz="1300" dirty="0"/>
          </a:p>
        </p:txBody>
      </p:sp>
      <p:sp>
        <p:nvSpPr>
          <p:cNvPr id="22" name="Text 20"/>
          <p:cNvSpPr/>
          <p:nvPr/>
        </p:nvSpPr>
        <p:spPr>
          <a:xfrm>
            <a:off x="5321808" y="1463040"/>
            <a:ext cx="3474720" cy="566928"/>
          </a:xfrm>
          <a:prstGeom prst="rect">
            <a:avLst/>
          </a:prstGeom>
          <a:noFill/>
          <a:ln/>
        </p:spPr>
        <p:txBody>
          <a:bodyPr wrap="square" rtlCol="0" anchor="ctr"/>
          <a:lstStyle/>
          <a:p>
            <a:pPr indent="0" marL="0">
              <a:buNone/>
            </a:pPr>
            <a:r>
              <a:rPr lang="en-US" sz="1050" dirty="0">
                <a:solidFill>
                  <a:srgbClr val="A8C8DC"/>
                </a:solidFill>
                <a:latin typeface="Calibri" pitchFamily="34" charset="0"/>
                <a:ea typeface="Calibri" pitchFamily="34" charset="-122"/>
                <a:cs typeface="Calibri" pitchFamily="34" charset="-120"/>
              </a:rPr>
              <a:t>Concurrent transactions don't interfere — isolation levels balance correctness vs. performance.</a:t>
            </a:r>
            <a:endParaRPr lang="en-US" sz="1050" dirty="0"/>
          </a:p>
        </p:txBody>
      </p:sp>
      <p:sp>
        <p:nvSpPr>
          <p:cNvPr id="23" name="Shape 21"/>
          <p:cNvSpPr/>
          <p:nvPr/>
        </p:nvSpPr>
        <p:spPr>
          <a:xfrm>
            <a:off x="4754880" y="2267712"/>
            <a:ext cx="4160520" cy="1115568"/>
          </a:xfrm>
          <a:prstGeom prst="roundRect">
            <a:avLst>
              <a:gd name="adj" fmla="val 8197"/>
            </a:avLst>
          </a:prstGeom>
          <a:solidFill>
            <a:srgbClr val="0E2233"/>
          </a:solidFill>
          <a:ln w="19050">
            <a:solidFill>
              <a:srgbClr val="E05252"/>
            </a:solidFill>
            <a:prstDash val="solid"/>
          </a:ln>
        </p:spPr>
      </p:sp>
      <p:sp>
        <p:nvSpPr>
          <p:cNvPr id="24" name="Shape 22"/>
          <p:cNvSpPr/>
          <p:nvPr/>
        </p:nvSpPr>
        <p:spPr>
          <a:xfrm>
            <a:off x="4882896" y="2404872"/>
            <a:ext cx="347472" cy="347472"/>
          </a:xfrm>
          <a:prstGeom prst="ellipse">
            <a:avLst/>
          </a:prstGeom>
          <a:solidFill>
            <a:srgbClr val="E05252"/>
          </a:solidFill>
          <a:ln w="12700">
            <a:solidFill>
              <a:srgbClr val="E05252"/>
            </a:solidFill>
            <a:prstDash val="solid"/>
          </a:ln>
        </p:spPr>
      </p:sp>
      <p:sp>
        <p:nvSpPr>
          <p:cNvPr id="25" name="Text 23"/>
          <p:cNvSpPr/>
          <p:nvPr/>
        </p:nvSpPr>
        <p:spPr>
          <a:xfrm>
            <a:off x="4882896" y="2404872"/>
            <a:ext cx="347472" cy="347472"/>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D</a:t>
            </a:r>
            <a:endParaRPr lang="en-US" sz="1400" dirty="0"/>
          </a:p>
        </p:txBody>
      </p:sp>
      <p:sp>
        <p:nvSpPr>
          <p:cNvPr id="26" name="Text 24"/>
          <p:cNvSpPr/>
          <p:nvPr/>
        </p:nvSpPr>
        <p:spPr>
          <a:xfrm>
            <a:off x="5321808" y="2395728"/>
            <a:ext cx="3474720" cy="347472"/>
          </a:xfrm>
          <a:prstGeom prst="rect">
            <a:avLst/>
          </a:prstGeom>
          <a:noFill/>
          <a:ln/>
        </p:spPr>
        <p:txBody>
          <a:bodyPr wrap="square" rtlCol="0" anchor="ctr"/>
          <a:lstStyle/>
          <a:p>
            <a:pPr indent="0" marL="0">
              <a:buNone/>
            </a:pPr>
            <a:r>
              <a:rPr lang="en-US" sz="1300" b="1" dirty="0">
                <a:solidFill>
                  <a:srgbClr val="E05252"/>
                </a:solidFill>
                <a:latin typeface="Calibri" pitchFamily="34" charset="0"/>
                <a:ea typeface="Calibri" pitchFamily="34" charset="-122"/>
                <a:cs typeface="Calibri" pitchFamily="34" charset="-120"/>
              </a:rPr>
              <a:t>Durability</a:t>
            </a:r>
            <a:endParaRPr lang="en-US" sz="1300" dirty="0"/>
          </a:p>
        </p:txBody>
      </p:sp>
      <p:sp>
        <p:nvSpPr>
          <p:cNvPr id="27" name="Text 25"/>
          <p:cNvSpPr/>
          <p:nvPr/>
        </p:nvSpPr>
        <p:spPr>
          <a:xfrm>
            <a:off x="5321808" y="2724912"/>
            <a:ext cx="3474720" cy="566928"/>
          </a:xfrm>
          <a:prstGeom prst="rect">
            <a:avLst/>
          </a:prstGeom>
          <a:noFill/>
          <a:ln/>
        </p:spPr>
        <p:txBody>
          <a:bodyPr wrap="square" rtlCol="0" anchor="ctr"/>
          <a:lstStyle/>
          <a:p>
            <a:pPr indent="0" marL="0">
              <a:buNone/>
            </a:pPr>
            <a:r>
              <a:rPr lang="en-US" sz="1050" dirty="0">
                <a:solidFill>
                  <a:srgbClr val="A8C8DC"/>
                </a:solidFill>
                <a:latin typeface="Calibri" pitchFamily="34" charset="0"/>
                <a:ea typeface="Calibri" pitchFamily="34" charset="-122"/>
                <a:cs typeface="Calibri" pitchFamily="34" charset="-120"/>
              </a:rPr>
              <a:t>Committed data survives crashes via Write-Ahead Logging and replication.</a:t>
            </a:r>
            <a:endParaRPr lang="en-US" sz="1050" dirty="0"/>
          </a:p>
        </p:txBody>
      </p:sp>
      <p:sp>
        <p:nvSpPr>
          <p:cNvPr id="28" name="Shape 26"/>
          <p:cNvSpPr/>
          <p:nvPr/>
        </p:nvSpPr>
        <p:spPr>
          <a:xfrm>
            <a:off x="4754880" y="3529584"/>
            <a:ext cx="4160520" cy="1115568"/>
          </a:xfrm>
          <a:prstGeom prst="roundRect">
            <a:avLst>
              <a:gd name="adj" fmla="val 8197"/>
            </a:avLst>
          </a:prstGeom>
          <a:solidFill>
            <a:srgbClr val="0E2233"/>
          </a:solidFill>
          <a:ln w="19050">
            <a:solidFill>
              <a:srgbClr val="2E9E6E"/>
            </a:solidFill>
            <a:prstDash val="solid"/>
          </a:ln>
        </p:spPr>
      </p:sp>
      <p:sp>
        <p:nvSpPr>
          <p:cNvPr id="29" name="Shape 27"/>
          <p:cNvSpPr/>
          <p:nvPr/>
        </p:nvSpPr>
        <p:spPr>
          <a:xfrm>
            <a:off x="4882896" y="3666744"/>
            <a:ext cx="347472" cy="347472"/>
          </a:xfrm>
          <a:prstGeom prst="ellipse">
            <a:avLst/>
          </a:prstGeom>
          <a:solidFill>
            <a:srgbClr val="2E9E6E"/>
          </a:solidFill>
          <a:ln w="12700">
            <a:solidFill>
              <a:srgbClr val="2E9E6E"/>
            </a:solidFill>
            <a:prstDash val="solid"/>
          </a:ln>
        </p:spPr>
      </p:sp>
      <p:sp>
        <p:nvSpPr>
          <p:cNvPr id="30" name="Text 28"/>
          <p:cNvSpPr/>
          <p:nvPr/>
        </p:nvSpPr>
        <p:spPr>
          <a:xfrm>
            <a:off x="4882896" y="3666744"/>
            <a:ext cx="347472" cy="347472"/>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321808" y="3657600"/>
            <a:ext cx="3474720" cy="347472"/>
          </a:xfrm>
          <a:prstGeom prst="rect">
            <a:avLst/>
          </a:prstGeom>
          <a:noFill/>
          <a:ln/>
        </p:spPr>
        <p:txBody>
          <a:bodyPr wrap="square" rtlCol="0" anchor="ctr"/>
          <a:lstStyle/>
          <a:p>
            <a:pPr indent="0" marL="0">
              <a:buNone/>
            </a:pPr>
            <a:r>
              <a:rPr lang="en-US" sz="1300" b="1" dirty="0">
                <a:solidFill>
                  <a:srgbClr val="2E9E6E"/>
                </a:solidFill>
                <a:latin typeface="Calibri" pitchFamily="34" charset="0"/>
                <a:ea typeface="Calibri" pitchFamily="34" charset="-122"/>
                <a:cs typeface="Calibri" pitchFamily="34" charset="-120"/>
              </a:rPr>
              <a:t>Java Implementation</a:t>
            </a:r>
            <a:endParaRPr lang="en-US" sz="1300" dirty="0"/>
          </a:p>
        </p:txBody>
      </p:sp>
      <p:sp>
        <p:nvSpPr>
          <p:cNvPr id="32" name="Text 30"/>
          <p:cNvSpPr/>
          <p:nvPr/>
        </p:nvSpPr>
        <p:spPr>
          <a:xfrm>
            <a:off x="5321808" y="3986784"/>
            <a:ext cx="3474720" cy="566928"/>
          </a:xfrm>
          <a:prstGeom prst="rect">
            <a:avLst/>
          </a:prstGeom>
          <a:noFill/>
          <a:ln/>
        </p:spPr>
        <p:txBody>
          <a:bodyPr wrap="square" rtlCol="0" anchor="ctr"/>
          <a:lstStyle/>
          <a:p>
            <a:pPr indent="0" marL="0">
              <a:buNone/>
            </a:pPr>
            <a:r>
              <a:rPr lang="en-US" sz="1050" dirty="0">
                <a:solidFill>
                  <a:srgbClr val="A8C8DC"/>
                </a:solidFill>
                <a:latin typeface="Calibri" pitchFamily="34" charset="0"/>
                <a:ea typeface="Calibri" pitchFamily="34" charset="-122"/>
                <a:cs typeface="Calibri" pitchFamily="34" charset="-120"/>
              </a:rPr>
              <a:t>Use JDBC for manual control, JTA for enterprise/distributed apps, Spring @Transactional for modern apps.</a:t>
            </a:r>
            <a:endParaRPr lang="en-US" sz="1050" dirty="0"/>
          </a:p>
        </p:txBody>
      </p:sp>
      <p:sp>
        <p:nvSpPr>
          <p:cNvPr id="33" name="Text 31"/>
          <p:cNvSpPr/>
          <p:nvPr/>
        </p:nvSpPr>
        <p:spPr>
          <a:xfrm>
            <a:off x="411480" y="4864608"/>
            <a:ext cx="8321040" cy="256032"/>
          </a:xfrm>
          <a:prstGeom prst="rect">
            <a:avLst/>
          </a:prstGeom>
          <a:noFill/>
          <a:ln/>
        </p:spPr>
        <p:txBody>
          <a:bodyPr wrap="square" rtlCol="0" anchor="ctr"/>
          <a:lstStyle/>
          <a:p>
            <a:pPr indent="0" marL="0">
              <a:buNone/>
            </a:pPr>
            <a:r>
              <a:rPr lang="en-US" sz="900" i="1" dirty="0">
                <a:solidFill>
                  <a:srgbClr val="3A5F78"/>
                </a:solidFill>
                <a:latin typeface="Calibri" pitchFamily="34" charset="0"/>
                <a:ea typeface="Calibri" pitchFamily="34" charset="-122"/>
                <a:cs typeface="Calibri" pitchFamily="34" charset="-120"/>
              </a:rPr>
              <a:t>Sources: Oracle Java SE Docs · Spring Framework Docs · IBM Db2 Transaction Guide · Baeldung.com/spring-transactional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Management in Java</dc:title>
  <dc:subject>PptxGenJS Presentation</dc:subject>
  <dc:creator>PptxGenJS</dc:creator>
  <cp:lastModifiedBy>PptxGenJS</cp:lastModifiedBy>
  <cp:revision>1</cp:revision>
  <dcterms:created xsi:type="dcterms:W3CDTF">2026-06-18T09:11:42Z</dcterms:created>
  <dcterms:modified xsi:type="dcterms:W3CDTF">2026-06-18T09:11:42Z</dcterms:modified>
</cp:coreProperties>
</file>